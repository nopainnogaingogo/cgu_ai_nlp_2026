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762" r:id="rId3"/>
    <p:sldId id="765" r:id="rId4"/>
    <p:sldId id="782" r:id="rId5"/>
    <p:sldId id="784" r:id="rId6"/>
    <p:sldId id="785" r:id="rId7"/>
    <p:sldId id="764" r:id="rId8"/>
    <p:sldId id="783" r:id="rId9"/>
    <p:sldId id="787" r:id="rId10"/>
    <p:sldId id="788" r:id="rId11"/>
    <p:sldId id="746" r:id="rId12"/>
    <p:sldId id="757" r:id="rId13"/>
    <p:sldId id="791" r:id="rId14"/>
    <p:sldId id="773" r:id="rId15"/>
    <p:sldId id="792" r:id="rId16"/>
    <p:sldId id="747" r:id="rId17"/>
    <p:sldId id="257" r:id="rId18"/>
    <p:sldId id="751" r:id="rId19"/>
    <p:sldId id="749" r:id="rId20"/>
    <p:sldId id="793" r:id="rId21"/>
    <p:sldId id="759" r:id="rId22"/>
    <p:sldId id="748" r:id="rId23"/>
    <p:sldId id="750" r:id="rId24"/>
    <p:sldId id="752" r:id="rId25"/>
    <p:sldId id="796" r:id="rId26"/>
    <p:sldId id="794" r:id="rId27"/>
    <p:sldId id="805" r:id="rId28"/>
    <p:sldId id="807" r:id="rId29"/>
    <p:sldId id="808" r:id="rId30"/>
    <p:sldId id="797" r:id="rId31"/>
    <p:sldId id="800" r:id="rId32"/>
    <p:sldId id="801" r:id="rId33"/>
    <p:sldId id="809" r:id="rId34"/>
    <p:sldId id="798" r:id="rId35"/>
    <p:sldId id="770" r:id="rId36"/>
    <p:sldId id="774" r:id="rId37"/>
    <p:sldId id="776" r:id="rId38"/>
    <p:sldId id="775" r:id="rId39"/>
    <p:sldId id="760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DDC19FE-5EB7-49DE-94D1-4FFA5EFADC95}">
          <p14:sldIdLst>
            <p14:sldId id="256"/>
            <p14:sldId id="762"/>
            <p14:sldId id="765"/>
            <p14:sldId id="782"/>
            <p14:sldId id="784"/>
            <p14:sldId id="785"/>
            <p14:sldId id="764"/>
            <p14:sldId id="783"/>
            <p14:sldId id="787"/>
            <p14:sldId id="788"/>
            <p14:sldId id="746"/>
            <p14:sldId id="757"/>
            <p14:sldId id="791"/>
            <p14:sldId id="773"/>
            <p14:sldId id="792"/>
            <p14:sldId id="747"/>
            <p14:sldId id="257"/>
            <p14:sldId id="751"/>
            <p14:sldId id="749"/>
            <p14:sldId id="793"/>
            <p14:sldId id="759"/>
          </p14:sldIdLst>
        </p14:section>
        <p14:section name="未命名的章節" id="{0BA5BC90-B243-41F5-8E6E-AF71C1CD1FB1}">
          <p14:sldIdLst>
            <p14:sldId id="748"/>
            <p14:sldId id="750"/>
            <p14:sldId id="752"/>
            <p14:sldId id="796"/>
            <p14:sldId id="794"/>
            <p14:sldId id="805"/>
            <p14:sldId id="807"/>
            <p14:sldId id="808"/>
            <p14:sldId id="797"/>
            <p14:sldId id="800"/>
            <p14:sldId id="801"/>
            <p14:sldId id="809"/>
            <p14:sldId id="798"/>
            <p14:sldId id="770"/>
            <p14:sldId id="774"/>
            <p14:sldId id="776"/>
            <p14:sldId id="775"/>
            <p14:sldId id="7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28" autoAdjust="0"/>
  </p:normalViewPr>
  <p:slideViewPr>
    <p:cSldViewPr snapToGrid="0">
      <p:cViewPr varScale="1">
        <p:scale>
          <a:sx n="79" d="100"/>
          <a:sy n="79" d="100"/>
        </p:scale>
        <p:origin x="1794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新細明體" panose="02020500000000000000" pitchFamily="18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新細明體" panose="02020500000000000000" pitchFamily="18" charset="-120"/>
              </a:defRPr>
            </a:lvl1pPr>
          </a:lstStyle>
          <a:p>
            <a:fld id="{5ECE71E3-34AD-4284-BD54-E1ECF7105C05}" type="datetimeFigureOut">
              <a:rPr lang="zh-TW" altLang="en-US" smtClean="0"/>
              <a:pPr/>
              <a:t>2026/6/8</a:t>
            </a:fld>
            <a:endParaRPr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新細明體" panose="02020500000000000000" pitchFamily="18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新細明體" panose="02020500000000000000" pitchFamily="18" charset="-120"/>
              </a:defRPr>
            </a:lvl1pPr>
          </a:lstStyle>
          <a:p>
            <a:fld id="{745CE158-9644-4378-B553-9F0AD65DF851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1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新細明體" panose="02020500000000000000" pitchFamily="18" charset="-12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新細明體" panose="02020500000000000000" pitchFamily="18" charset="-12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新細明體" panose="02020500000000000000" pitchFamily="18" charset="-12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新細明體" panose="02020500000000000000" pitchFamily="18" charset="-12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新細明體" panose="02020500000000000000" pitchFamily="18" charset="-12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75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模型會把 </a:t>
            </a:r>
            <a:r>
              <a:rPr lang="en-US" altLang="zh-TW" dirty="0"/>
              <a:t>1, 2, 3, 4, 5, 6 </a:t>
            </a:r>
            <a:r>
              <a:rPr lang="zh-TW" altLang="en-US" dirty="0"/>
              <a:t>看作是 </a:t>
            </a:r>
            <a:r>
              <a:rPr lang="en-US" altLang="zh-TW" b="1" dirty="0"/>
              <a:t>6 </a:t>
            </a:r>
            <a:r>
              <a:rPr lang="zh-TW" altLang="en-US" b="1" dirty="0"/>
              <a:t>個完全獨立、互不相干的「類別（</a:t>
            </a:r>
            <a:r>
              <a:rPr lang="en-US" altLang="zh-TW" b="1" dirty="0"/>
              <a:t>Categories</a:t>
            </a:r>
            <a:r>
              <a:rPr lang="zh-TW" altLang="en-US" b="1" dirty="0"/>
              <a:t>）」</a:t>
            </a:r>
            <a:r>
              <a:rPr lang="zh-TW" altLang="en-US" dirty="0"/>
              <a:t>，就像分類「貓、狗、鳥、魚、馬、羊」一樣。</a:t>
            </a:r>
            <a:endParaRPr lang="en-US" altLang="zh-TW" dirty="0"/>
          </a:p>
          <a:p>
            <a:r>
              <a:rPr lang="zh-TW" altLang="en-US" dirty="0"/>
              <a:t>因為它只在乎「你猜對了沒」，而不在乎「你猜得有多接近」。</a:t>
            </a:r>
            <a:endParaRPr lang="en-US" altLang="zh-TW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91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把一個 </a:t>
            </a:r>
            <a:r>
              <a:rPr lang="en-US" altLang="zh-TW" dirty="0"/>
              <a:t>6 </a:t>
            </a:r>
            <a:r>
              <a:rPr lang="zh-TW" altLang="en-US" dirty="0"/>
              <a:t>分類問題，拆解成 </a:t>
            </a:r>
            <a:r>
              <a:rPr lang="en-US" altLang="zh-TW" dirty="0"/>
              <a:t>5 </a:t>
            </a:r>
            <a:r>
              <a:rPr lang="zh-TW" altLang="en-US" dirty="0"/>
              <a:t>個二分類（</a:t>
            </a:r>
            <a:r>
              <a:rPr lang="en-US" altLang="zh-TW" dirty="0"/>
              <a:t>Binary Classification</a:t>
            </a:r>
            <a:r>
              <a:rPr lang="zh-TW" altLang="en-US" dirty="0"/>
              <a:t>）問題</a:t>
            </a:r>
            <a:endParaRPr lang="en-US" altLang="zh-TW" dirty="0"/>
          </a:p>
          <a:p>
            <a:endParaRPr lang="zh-TW" altLang="en-US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048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Google Sans Text"/>
              </a:rPr>
              <a:t>當我們把預測目標改為</a:t>
            </a:r>
            <a:r>
              <a:rPr lang="zh-TW" altLang="en-US" b="1" dirty="0">
                <a:effectLst/>
                <a:latin typeface="Google Sans Text"/>
              </a:rPr>
              <a:t>回歸問題</a:t>
            </a:r>
            <a:r>
              <a:rPr lang="zh-TW" altLang="en-US" dirty="0">
                <a:effectLst/>
                <a:latin typeface="Google Sans Text"/>
              </a:rPr>
              <a:t>（預測一個連續的浮點數，例如 </a:t>
            </a:r>
            <a:r>
              <a:rPr lang="en-US" altLang="zh-TW" dirty="0">
                <a:effectLst/>
                <a:latin typeface="Google Sans Text"/>
              </a:rPr>
              <a:t>3.72</a:t>
            </a:r>
            <a:r>
              <a:rPr lang="zh-TW" altLang="en-US" dirty="0">
                <a:effectLst/>
                <a:latin typeface="Google Sans Text"/>
              </a:rPr>
              <a:t>、</a:t>
            </a:r>
            <a:r>
              <a:rPr lang="en-US" altLang="zh-TW" dirty="0">
                <a:effectLst/>
                <a:latin typeface="Google Sans Text"/>
              </a:rPr>
              <a:t>4.15</a:t>
            </a:r>
            <a:r>
              <a:rPr lang="zh-TW" altLang="en-US" dirty="0">
                <a:effectLst/>
                <a:latin typeface="Google Sans Text"/>
              </a:rPr>
              <a:t>），並使用 </a:t>
            </a:r>
            <a:r>
              <a:rPr lang="en-US" altLang="zh-TW" b="1" dirty="0">
                <a:effectLst/>
                <a:latin typeface="Google Sans Text"/>
              </a:rPr>
              <a:t>MSE</a:t>
            </a:r>
            <a:r>
              <a:rPr lang="zh-TW" altLang="en-US" b="1" dirty="0">
                <a:effectLst/>
                <a:latin typeface="Google Sans Text"/>
              </a:rPr>
              <a:t>（均方誤差）</a:t>
            </a:r>
            <a:r>
              <a:rPr lang="zh-TW" altLang="en-US" dirty="0">
                <a:effectLst/>
                <a:latin typeface="Google Sans Text"/>
              </a:rPr>
              <a:t> 作為 </a:t>
            </a:r>
            <a:r>
              <a:rPr lang="en-US" altLang="zh-TW" dirty="0">
                <a:effectLst/>
                <a:latin typeface="Google Sans Text"/>
              </a:rPr>
              <a:t>Loss Function </a:t>
            </a:r>
            <a:r>
              <a:rPr lang="zh-TW" altLang="en-US" dirty="0">
                <a:effectLst/>
                <a:latin typeface="Google Sans Text"/>
              </a:rPr>
              <a:t>時：</a:t>
            </a:r>
          </a:p>
          <a:p>
            <a:r>
              <a:rPr lang="zh-TW" altLang="en-US" dirty="0">
                <a:effectLst/>
                <a:latin typeface="Google Sans Text"/>
              </a:rPr>
              <a:t>你會發現</a:t>
            </a:r>
            <a:endParaRPr lang="zh-TW" altLang="en-US" b="0" dirty="0">
              <a:effectLst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026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effectLst/>
                <a:latin typeface="Google Sans Text"/>
              </a:rPr>
              <a:t>MSE </a:t>
            </a:r>
            <a:r>
              <a:rPr lang="zh-TW" altLang="en-US" b="1" dirty="0">
                <a:effectLst/>
                <a:latin typeface="Google Sans Text"/>
              </a:rPr>
              <a:t>的數學公式跟 </a:t>
            </a:r>
            <a:r>
              <a:rPr lang="en-US" altLang="zh-TW" b="1" dirty="0">
                <a:effectLst/>
                <a:latin typeface="Google Sans Text"/>
              </a:rPr>
              <a:t>QWK </a:t>
            </a:r>
            <a:r>
              <a:rPr lang="zh-TW" altLang="en-US" b="1" dirty="0">
                <a:effectLst/>
                <a:latin typeface="Google Sans Text"/>
              </a:rPr>
              <a:t>的懲罰邏輯很像</a:t>
            </a:r>
            <a:endParaRPr lang="zh-TW" altLang="en-US" dirty="0">
              <a:effectLst/>
              <a:latin typeface="Google Sans Text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1896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1" dirty="0">
                <a:effectLst/>
                <a:latin typeface="Google Sans Text"/>
              </a:rPr>
              <a:t>MSE </a:t>
            </a:r>
            <a:r>
              <a:rPr lang="zh-TW" altLang="en-US" b="1" dirty="0">
                <a:effectLst/>
                <a:latin typeface="Google Sans Text"/>
              </a:rPr>
              <a:t>的數學公式跟 </a:t>
            </a:r>
            <a:r>
              <a:rPr lang="en-US" altLang="zh-TW" b="1" dirty="0">
                <a:effectLst/>
                <a:latin typeface="Google Sans Text"/>
              </a:rPr>
              <a:t>QWK </a:t>
            </a:r>
            <a:r>
              <a:rPr lang="zh-TW" altLang="en-US" b="1" dirty="0">
                <a:effectLst/>
                <a:latin typeface="Google Sans Text"/>
              </a:rPr>
              <a:t>的懲罰邏輯很像</a:t>
            </a:r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/>
              <a:t>透過回歸，模型被強迫學到了</a:t>
            </a:r>
            <a:r>
              <a:rPr lang="zh-TW" altLang="en-US" b="1" dirty="0"/>
              <a:t>順序與距離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它知道 </a:t>
            </a:r>
            <a:r>
              <a:rPr lang="en-US" altLang="zh-TW" dirty="0"/>
              <a:t>4 </a:t>
            </a:r>
            <a:r>
              <a:rPr lang="zh-TW" altLang="en-US" dirty="0"/>
              <a:t>比 </a:t>
            </a:r>
            <a:r>
              <a:rPr lang="en-US" altLang="zh-TW" dirty="0"/>
              <a:t>1 </a:t>
            </a:r>
            <a:r>
              <a:rPr lang="zh-TW" altLang="en-US" dirty="0"/>
              <a:t>更接近 </a:t>
            </a:r>
            <a:r>
              <a:rPr lang="en-US" altLang="zh-TW" dirty="0"/>
              <a:t>5</a:t>
            </a:r>
            <a:r>
              <a:rPr lang="zh-TW" altLang="en-US" dirty="0"/>
              <a:t>，因此在優化過程中會盡可能讓預測值「靠近」真實分數，從而優化了 </a:t>
            </a:r>
            <a:r>
              <a:rPr lang="en-US" altLang="zh-TW" dirty="0"/>
              <a:t>QWK </a:t>
            </a:r>
            <a:r>
              <a:rPr lang="zh-TW" altLang="en-US" dirty="0"/>
              <a:t>指標。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5078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QWK </a:t>
            </a:r>
            <a:r>
              <a:rPr lang="zh-TW" altLang="en-US" dirty="0"/>
              <a:t>的計算過程包含</a:t>
            </a:r>
            <a:r>
              <a:rPr lang="en-US" altLang="zh-TW" dirty="0"/>
              <a:t>step function</a:t>
            </a:r>
            <a:r>
              <a:rPr lang="zh-TW" altLang="en-US" dirty="0"/>
              <a:t>，這在數學上是不可微的。也就是說，無法直接把 </a:t>
            </a:r>
            <a:r>
              <a:rPr lang="en-US" altLang="zh-TW" dirty="0"/>
              <a:t>QWK </a:t>
            </a:r>
            <a:r>
              <a:rPr lang="zh-TW" altLang="en-US" dirty="0"/>
              <a:t>放進深度學習模型裡去跑反向傳播（</a:t>
            </a:r>
            <a:r>
              <a:rPr lang="en-US" altLang="zh-TW" dirty="0"/>
              <a:t>Backpropagation</a:t>
            </a:r>
            <a:r>
              <a:rPr lang="zh-TW" altLang="en-US" dirty="0"/>
              <a:t>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1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419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(Class Imbalance)</a:t>
            </a:r>
            <a:r>
              <a:rPr lang="zh-TW" altLang="en-US" dirty="0"/>
              <a:t>：分數分佈呈現類似鐘形曲線（常態分佈）。多數學生的文章集中在 </a:t>
            </a:r>
            <a:r>
              <a:rPr lang="en-US" altLang="zh-TW" dirty="0"/>
              <a:t>3 </a:t>
            </a:r>
            <a:r>
              <a:rPr lang="zh-TW" altLang="en-US" dirty="0"/>
              <a:t>分、</a:t>
            </a:r>
            <a:r>
              <a:rPr lang="en-US" altLang="zh-TW" dirty="0"/>
              <a:t>4 </a:t>
            </a:r>
            <a:r>
              <a:rPr lang="zh-TW" altLang="en-US" dirty="0"/>
              <a:t>分或 </a:t>
            </a:r>
            <a:r>
              <a:rPr lang="en-US" altLang="zh-TW" dirty="0"/>
              <a:t>5 </a:t>
            </a:r>
            <a:r>
              <a:rPr lang="zh-TW" altLang="en-US" dirty="0"/>
              <a:t>分，而極端的 </a:t>
            </a:r>
            <a:r>
              <a:rPr lang="en-US" altLang="zh-TW" dirty="0"/>
              <a:t>1 </a:t>
            </a:r>
            <a:r>
              <a:rPr lang="zh-TW" altLang="en-US" dirty="0"/>
              <a:t>分、</a:t>
            </a:r>
            <a:r>
              <a:rPr lang="en-US" altLang="zh-TW" dirty="0"/>
              <a:t>2 </a:t>
            </a:r>
            <a:r>
              <a:rPr lang="zh-TW" altLang="en-US" dirty="0"/>
              <a:t>分或 </a:t>
            </a:r>
            <a:r>
              <a:rPr lang="en-US" altLang="zh-TW" dirty="0"/>
              <a:t>6 </a:t>
            </a:r>
            <a:r>
              <a:rPr lang="zh-TW" altLang="en-US" dirty="0"/>
              <a:t>分樣本非常稀少，這讓模型很難學好極端分數的特徵。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972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在作文比賽中，</a:t>
            </a:r>
            <a:r>
              <a:rPr lang="en-US" altLang="zh-TW" dirty="0"/>
              <a:t>6 </a:t>
            </a:r>
            <a:r>
              <a:rPr lang="zh-TW" altLang="en-US" dirty="0"/>
              <a:t>分的作文通常極少，如果你做 </a:t>
            </a:r>
            <a:r>
              <a:rPr lang="en-US" altLang="zh-TW" dirty="0"/>
              <a:t>5-Fold </a:t>
            </a:r>
            <a:r>
              <a:rPr lang="zh-TW" altLang="en-US" dirty="0"/>
              <a:t>交叉驗證，必須確保這少數的 </a:t>
            </a:r>
            <a:r>
              <a:rPr lang="en-US" altLang="zh-TW" dirty="0"/>
              <a:t>6 </a:t>
            </a:r>
            <a:r>
              <a:rPr lang="zh-TW" altLang="en-US" dirty="0"/>
              <a:t>分作文被均勻分配到 </a:t>
            </a:r>
            <a:r>
              <a:rPr lang="en-US" altLang="zh-TW" dirty="0"/>
              <a:t>5 </a:t>
            </a:r>
            <a:r>
              <a:rPr lang="zh-TW" altLang="en-US" dirty="0"/>
              <a:t>個 </a:t>
            </a:r>
            <a:r>
              <a:rPr lang="en-US" altLang="zh-TW" dirty="0"/>
              <a:t>Fold </a:t>
            </a:r>
            <a:r>
              <a:rPr lang="zh-TW" altLang="en-US" dirty="0"/>
              <a:t>中，否則模型在某個沒有 </a:t>
            </a:r>
            <a:r>
              <a:rPr lang="en-US" altLang="zh-TW" dirty="0"/>
              <a:t>6 </a:t>
            </a:r>
            <a:r>
              <a:rPr lang="zh-TW" altLang="en-US" dirty="0"/>
              <a:t>分樣本的 </a:t>
            </a:r>
            <a:r>
              <a:rPr lang="en-US" altLang="zh-TW" dirty="0"/>
              <a:t>Fold </a:t>
            </a:r>
            <a:r>
              <a:rPr lang="zh-TW" altLang="en-US" dirty="0"/>
              <a:t>裡就完全學不到高分作文的特徵。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126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微軟（</a:t>
            </a:r>
            <a:r>
              <a:rPr lang="en-US" altLang="zh-TW" dirty="0"/>
              <a:t>Microsoft</a:t>
            </a:r>
            <a:r>
              <a:rPr lang="zh-TW" altLang="en-US" dirty="0"/>
              <a:t>）發布的 </a:t>
            </a:r>
            <a:r>
              <a:rPr lang="en-US" altLang="zh-TW" b="1" dirty="0"/>
              <a:t>DeBERTa-v3</a:t>
            </a:r>
            <a:r>
              <a:rPr lang="zh-TW" altLang="en-US" dirty="0"/>
              <a:t> </a:t>
            </a:r>
            <a:r>
              <a:rPr lang="en-US" altLang="zh-TW" dirty="0"/>
              <a:t>pre-trained model </a:t>
            </a:r>
            <a:r>
              <a:rPr lang="zh-TW" altLang="en-US" dirty="0"/>
              <a:t>中，參數較少、專門處理英文（</a:t>
            </a:r>
            <a:r>
              <a:rPr lang="en-US" altLang="zh-TW" dirty="0"/>
              <a:t>_</a:t>
            </a:r>
            <a:r>
              <a:rPr lang="en-US" altLang="zh-TW" dirty="0" err="1"/>
              <a:t>en</a:t>
            </a:r>
            <a:r>
              <a:rPr lang="zh-TW" altLang="en-US" dirty="0"/>
              <a:t>）的</a:t>
            </a:r>
            <a:r>
              <a:rPr lang="en-US" altLang="zh-TW" dirty="0"/>
              <a:t>BERT </a:t>
            </a:r>
            <a:r>
              <a:rPr lang="zh-TW" altLang="en-US" dirty="0"/>
              <a:t>的改良版</a:t>
            </a:r>
            <a:br>
              <a:rPr lang="en-US" altLang="zh-TW" dirty="0"/>
            </a:br>
            <a:r>
              <a:rPr lang="zh-TW" altLang="en-US" dirty="0"/>
              <a:t>模型尺寸（參數規格）的代稱。在 </a:t>
            </a:r>
            <a:r>
              <a:rPr lang="en-US" altLang="zh-TW" dirty="0"/>
              <a:t>Kaggle </a:t>
            </a:r>
            <a:r>
              <a:rPr lang="zh-TW" altLang="en-US" dirty="0"/>
              <a:t>比賽或實務開發中，模型通常有 </a:t>
            </a:r>
            <a:r>
              <a:rPr lang="en-US" altLang="zh-TW" dirty="0"/>
              <a:t>large</a:t>
            </a:r>
            <a:r>
              <a:rPr lang="zh-TW" altLang="en-US" dirty="0"/>
              <a:t>、</a:t>
            </a:r>
            <a:r>
              <a:rPr lang="en-US" altLang="zh-TW" dirty="0"/>
              <a:t>base</a:t>
            </a:r>
            <a:r>
              <a:rPr lang="zh-TW" altLang="en-US" dirty="0"/>
              <a:t>、</a:t>
            </a:r>
            <a:r>
              <a:rPr lang="en-US" altLang="zh-TW" dirty="0"/>
              <a:t>small</a:t>
            </a:r>
            <a:r>
              <a:rPr lang="zh-TW" altLang="en-US" dirty="0"/>
              <a:t>、</a:t>
            </a:r>
            <a:r>
              <a:rPr lang="en-US" altLang="zh-TW" dirty="0" err="1"/>
              <a:t>extra_small</a:t>
            </a:r>
            <a:r>
              <a:rPr lang="en-US" altLang="zh-TW" dirty="0"/>
              <a:t> </a:t>
            </a:r>
            <a:r>
              <a:rPr lang="zh-TW" altLang="en-US" dirty="0"/>
              <a:t>等規格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如果說 </a:t>
            </a:r>
            <a:r>
              <a:rPr lang="en-US" altLang="zh-TW" dirty="0"/>
              <a:t>deberta_v3_extra_small_en </a:t>
            </a:r>
            <a:r>
              <a:rPr lang="zh-TW" altLang="en-US" dirty="0"/>
              <a:t>是負責閱讀、理解文章的大腦，</a:t>
            </a:r>
            <a:br>
              <a:rPr lang="en-US" altLang="zh-TW" dirty="0"/>
            </a:br>
            <a:r>
              <a:rPr lang="zh-TW" altLang="en-US" dirty="0"/>
              <a:t>那 </a:t>
            </a:r>
            <a:r>
              <a:rPr lang="en-US" altLang="zh-TW" dirty="0"/>
              <a:t>DebertaV3Classifier </a:t>
            </a:r>
            <a:r>
              <a:rPr lang="zh-TW" altLang="en-US" dirty="0"/>
              <a:t>就是</a:t>
            </a:r>
            <a:r>
              <a:rPr lang="zh-TW" altLang="en-US" b="1" dirty="0"/>
              <a:t>負責把大腦理解後的知識，轉換成「最終預測分數」的輸出</a:t>
            </a:r>
            <a:br>
              <a:rPr lang="en-US" altLang="zh-TW" b="1" dirty="0"/>
            </a:br>
            <a:br>
              <a:rPr lang="en-US" altLang="zh-TW" b="1" dirty="0"/>
            </a:br>
            <a:r>
              <a:rPr lang="zh-TW" altLang="en-US" dirty="0"/>
              <a:t>在真實世界中，每個學生寫的作文長度都不同。有人寫了 </a:t>
            </a:r>
            <a:r>
              <a:rPr lang="en-US" altLang="zh-TW" dirty="0"/>
              <a:t>800 </a:t>
            </a:r>
            <a:r>
              <a:rPr lang="zh-TW" altLang="en-US" dirty="0"/>
              <a:t>字，有人只寫了 </a:t>
            </a:r>
            <a:r>
              <a:rPr lang="en-US" altLang="zh-TW" dirty="0"/>
              <a:t>50 </a:t>
            </a:r>
            <a:r>
              <a:rPr lang="zh-TW" altLang="en-US" dirty="0"/>
              <a:t>字。</a:t>
            </a:r>
            <a:br>
              <a:rPr lang="en-US" altLang="zh-TW" dirty="0"/>
            </a:br>
            <a:r>
              <a:rPr lang="zh-TW" altLang="en-US" dirty="0"/>
              <a:t>但是</a:t>
            </a:r>
            <a:r>
              <a:rPr lang="zh-TW" altLang="en-US" b="1" dirty="0"/>
              <a:t>神經網路的輸入矩陣必須是整齊的方陣</a:t>
            </a:r>
            <a:r>
              <a:rPr lang="zh-TW" altLang="en-US" dirty="0"/>
              <a:t>。因此我們必須設定一個固定的 </a:t>
            </a:r>
            <a:r>
              <a:rPr lang="en-US" altLang="zh-TW" dirty="0"/>
              <a:t>Sequence Length</a:t>
            </a:r>
            <a:r>
              <a:rPr lang="zh-TW" altLang="en-US" dirty="0"/>
              <a:t>（例如 </a:t>
            </a:r>
            <a:r>
              <a:rPr lang="en-US" altLang="zh-TW" dirty="0"/>
              <a:t>512</a:t>
            </a:r>
            <a:r>
              <a:rPr lang="zh-TW" altLang="en-US" dirty="0"/>
              <a:t>）：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太長就截斷（</a:t>
            </a:r>
            <a:r>
              <a:rPr lang="en-US" altLang="zh-TW" b="1" dirty="0"/>
              <a:t>Truncation</a:t>
            </a:r>
            <a:r>
              <a:rPr lang="zh-TW" altLang="en-US" b="1" dirty="0"/>
              <a:t>）</a:t>
            </a:r>
            <a:r>
              <a:rPr lang="zh-TW" altLang="en-US" dirty="0"/>
              <a:t>：如果學生寫了 </a:t>
            </a:r>
            <a:r>
              <a:rPr lang="en-US" altLang="zh-TW" dirty="0"/>
              <a:t>800 </a:t>
            </a:r>
            <a:r>
              <a:rPr lang="zh-TW" altLang="en-US" dirty="0"/>
              <a:t>個 </a:t>
            </a:r>
            <a:r>
              <a:rPr lang="en-US" altLang="zh-TW" dirty="0"/>
              <a:t>Token</a:t>
            </a:r>
            <a:r>
              <a:rPr lang="zh-TW" altLang="en-US" dirty="0"/>
              <a:t>，而 </a:t>
            </a:r>
            <a:r>
              <a:rPr lang="en-US" altLang="zh-TW" dirty="0" err="1"/>
              <a:t>seq_len</a:t>
            </a:r>
            <a:r>
              <a:rPr lang="en-US" altLang="zh-TW" dirty="0"/>
              <a:t> </a:t>
            </a:r>
            <a:r>
              <a:rPr lang="zh-TW" altLang="en-US" dirty="0"/>
              <a:t>設 </a:t>
            </a:r>
            <a:r>
              <a:rPr lang="en-US" altLang="zh-TW" dirty="0"/>
              <a:t>512</a:t>
            </a:r>
            <a:r>
              <a:rPr lang="zh-TW" altLang="en-US" dirty="0"/>
              <a:t>，模型就只讀前 </a:t>
            </a:r>
            <a:r>
              <a:rPr lang="en-US" altLang="zh-TW" dirty="0"/>
              <a:t>512 </a:t>
            </a:r>
            <a:r>
              <a:rPr lang="zh-TW" altLang="en-US" dirty="0"/>
              <a:t>個 </a:t>
            </a:r>
            <a:r>
              <a:rPr lang="en-US" altLang="zh-TW" dirty="0"/>
              <a:t>Token</a:t>
            </a:r>
            <a:r>
              <a:rPr lang="zh-TW" altLang="en-US" dirty="0"/>
              <a:t>，後面的直接丟棄。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太短就填充（</a:t>
            </a:r>
            <a:r>
              <a:rPr lang="en-US" altLang="zh-TW" b="1" dirty="0"/>
              <a:t>Padding</a:t>
            </a:r>
            <a:r>
              <a:rPr lang="zh-TW" altLang="en-US" b="1" dirty="0"/>
              <a:t>）</a:t>
            </a:r>
            <a:r>
              <a:rPr lang="zh-TW" altLang="en-US" dirty="0"/>
              <a:t>：如果學生只寫了 </a:t>
            </a:r>
            <a:r>
              <a:rPr lang="en-US" altLang="zh-TW" dirty="0"/>
              <a:t>200 </a:t>
            </a:r>
            <a:r>
              <a:rPr lang="zh-TW" altLang="en-US" dirty="0"/>
              <a:t>個 </a:t>
            </a:r>
            <a:r>
              <a:rPr lang="en-US" altLang="zh-TW" dirty="0"/>
              <a:t>Token</a:t>
            </a:r>
            <a:r>
              <a:rPr lang="zh-TW" altLang="en-US" dirty="0"/>
              <a:t>，模型讀完後，後面會自動補上 </a:t>
            </a:r>
            <a:r>
              <a:rPr lang="en-US" altLang="zh-TW" dirty="0"/>
              <a:t>312 </a:t>
            </a:r>
            <a:r>
              <a:rPr lang="zh-TW" altLang="en-US" dirty="0"/>
              <a:t>個特殊的 </a:t>
            </a:r>
            <a:r>
              <a:rPr lang="en-US" altLang="zh-TW" dirty="0"/>
              <a:t>[PAD] </a:t>
            </a:r>
            <a:r>
              <a:rPr lang="zh-TW" altLang="en-US" dirty="0"/>
              <a:t>標記，把長度強行湊滿 </a:t>
            </a:r>
            <a:r>
              <a:rPr lang="en-US" altLang="zh-TW" dirty="0"/>
              <a:t>512</a:t>
            </a:r>
            <a:r>
              <a:rPr lang="zh-TW" altLang="en-US" dirty="0"/>
              <a:t>。</a:t>
            </a:r>
          </a:p>
          <a:p>
            <a:br>
              <a:rPr lang="en-US" altLang="zh-TW" b="1" dirty="0"/>
            </a:br>
            <a:br>
              <a:rPr lang="en-US" altLang="zh-TW" b="1" dirty="0"/>
            </a:br>
            <a:r>
              <a:rPr lang="en-US" altLang="zh-TW" dirty="0"/>
              <a:t>Batch Size </a:t>
            </a:r>
            <a:r>
              <a:rPr lang="zh-TW" altLang="en-US" dirty="0"/>
              <a:t>指的是模型在進行一次正向傳播（</a:t>
            </a:r>
            <a:r>
              <a:rPr lang="en-US" altLang="zh-TW" dirty="0"/>
              <a:t>Forward Pass</a:t>
            </a:r>
            <a:r>
              <a:rPr lang="zh-TW" altLang="en-US" dirty="0"/>
              <a:t>）與反向傳播（</a:t>
            </a:r>
            <a:r>
              <a:rPr lang="en-US" altLang="zh-TW" dirty="0"/>
              <a:t>Backward Pass</a:t>
            </a:r>
            <a:r>
              <a:rPr lang="zh-TW" altLang="en-US" dirty="0"/>
              <a:t>）時，同時處理的「樣本（文章）數量」。</a:t>
            </a:r>
            <a:br>
              <a:rPr lang="en-US" altLang="zh-TW" dirty="0"/>
            </a:br>
            <a:r>
              <a:rPr lang="en-US" altLang="zh-TW" dirty="0"/>
              <a:t>Batch Size = 4</a:t>
            </a:r>
            <a:r>
              <a:rPr lang="zh-TW" altLang="en-US" dirty="0"/>
              <a:t>：代表助教在桌上</a:t>
            </a:r>
            <a:r>
              <a:rPr lang="zh-TW" altLang="en-US" b="1" dirty="0"/>
              <a:t>同時攤開 </a:t>
            </a:r>
            <a:r>
              <a:rPr lang="en-US" altLang="zh-TW" b="1" dirty="0"/>
              <a:t>4 </a:t>
            </a:r>
            <a:r>
              <a:rPr lang="zh-TW" altLang="en-US" b="1" dirty="0"/>
              <a:t>份學生的 </a:t>
            </a:r>
            <a:r>
              <a:rPr lang="en-US" altLang="zh-TW" b="1" dirty="0"/>
              <a:t>essay</a:t>
            </a:r>
            <a:r>
              <a:rPr lang="zh-TW" altLang="en-US" dirty="0"/>
              <a:t>，一眼掃過去同時看完這 </a:t>
            </a:r>
            <a:r>
              <a:rPr lang="en-US" altLang="zh-TW" dirty="0"/>
              <a:t>4 </a:t>
            </a:r>
            <a:r>
              <a:rPr lang="zh-TW" altLang="en-US" dirty="0"/>
              <a:t>份，然後根據這 </a:t>
            </a:r>
            <a:r>
              <a:rPr lang="en-US" altLang="zh-TW" dirty="0"/>
              <a:t>4 </a:t>
            </a:r>
            <a:r>
              <a:rPr lang="zh-TW" altLang="en-US" dirty="0"/>
              <a:t>份的綜合表現，調整一次自己心中的評分標準（更新權重）。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2492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435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最完美的選擇是 </a:t>
            </a:r>
            <a:r>
              <a:rPr lang="en-US" altLang="zh-TW" b="0" i="0" dirty="0" err="1">
                <a:solidFill>
                  <a:srgbClr val="E3E3E3"/>
                </a:solidFill>
                <a:effectLst/>
                <a:latin typeface="Google Sans Text"/>
              </a:rPr>
              <a:t>StratifiedGroupKFold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。這能確保：同一個題目的所有文章，只會同時出現在訓練集，或同時出現在驗證集。 每一折（</a:t>
            </a:r>
            <a:r>
              <a:rPr lang="en-US" altLang="zh-TW" b="0" i="0" dirty="0">
                <a:solidFill>
                  <a:srgbClr val="E3E3E3"/>
                </a:solidFill>
                <a:effectLst/>
                <a:latin typeface="Google Sans Text"/>
              </a:rPr>
              <a:t>Fold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）裡，</a:t>
            </a:r>
            <a:r>
              <a:rPr lang="en-US" altLang="zh-TW" b="0" i="0" dirty="0">
                <a:solidFill>
                  <a:srgbClr val="E3E3E3"/>
                </a:solidFill>
                <a:effectLst/>
                <a:latin typeface="Google Sans Text"/>
              </a:rPr>
              <a:t>1~6 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分的比例依然與原始資料維持平衡。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402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最完美的選擇是 </a:t>
            </a:r>
            <a:r>
              <a:rPr lang="en-US" altLang="zh-TW" b="0" i="0" dirty="0" err="1">
                <a:solidFill>
                  <a:srgbClr val="E3E3E3"/>
                </a:solidFill>
                <a:effectLst/>
                <a:latin typeface="Google Sans Text"/>
              </a:rPr>
              <a:t>StratifiedGroupKFold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。這能確保：同一個題目的所有文章，只會同時出現在訓練集，或同時出現在驗證集。 每一折（</a:t>
            </a:r>
            <a:r>
              <a:rPr lang="en-US" altLang="zh-TW" b="0" i="0" dirty="0">
                <a:solidFill>
                  <a:srgbClr val="E3E3E3"/>
                </a:solidFill>
                <a:effectLst/>
                <a:latin typeface="Google Sans Text"/>
              </a:rPr>
              <a:t>Fold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）裡，</a:t>
            </a:r>
            <a:r>
              <a:rPr lang="en-US" altLang="zh-TW" b="0" i="0" dirty="0">
                <a:solidFill>
                  <a:srgbClr val="E3E3E3"/>
                </a:solidFill>
                <a:effectLst/>
                <a:latin typeface="Google Sans Text"/>
              </a:rPr>
              <a:t>1~6 </a:t>
            </a:r>
            <a:r>
              <a:rPr lang="zh-TW" altLang="en-US" b="0" i="0" dirty="0">
                <a:solidFill>
                  <a:srgbClr val="E3E3E3"/>
                </a:solidFill>
                <a:effectLst/>
                <a:latin typeface="Google Sans Text"/>
              </a:rPr>
              <a:t>分的比例依然與原始資料維持平衡。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968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0367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9741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dirty="0"/>
              <a:t>既然舊資料的原始標籤不符合新標準，用在新資料上微調好的模型，重新去幫舊資料打分數（打上浮點數標籤，不進行四捨五入）。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5172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dirty="0"/>
              <a:t>既然舊資料的原始標籤不符合新標準，用在新資料上微調好的模型，重新去幫舊資料打分數（打上浮點數標籤，不進行四捨五入）。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3556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200" dirty="0"/>
              <a:t>既然舊資料的原始標籤不符合新標準，用在新資料上微調好的模型，重新去幫舊資料打分數（打上浮點數標籤，不進行四捨五入）。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39248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只用這次比賽的新資料（標籤絕對正確、符合當前評分標準）來訓練一個強大的 </a:t>
            </a:r>
            <a:r>
              <a:rPr lang="en-US" altLang="zh-TW" b="0" dirty="0" err="1"/>
              <a:t>DeBERTa</a:t>
            </a:r>
            <a:r>
              <a:rPr lang="en-US" altLang="zh-TW" b="0" dirty="0"/>
              <a:t> </a:t>
            </a:r>
            <a:r>
              <a:rPr lang="zh-TW" altLang="en-US" b="0" dirty="0"/>
              <a:t>融合模型。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把那些有標籤落差的歷史舊資料拿出來，丟進這個「新裁判模型」裡進行預測。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模型預測舊資料時，輸出的不是硬生生的整數（</a:t>
            </a:r>
            <a:r>
              <a:rPr lang="en-US" altLang="zh-TW" dirty="0"/>
              <a:t>1, 2, 3...</a:t>
            </a:r>
            <a:r>
              <a:rPr lang="zh-TW" altLang="en-US" dirty="0"/>
              <a:t>），而是</a:t>
            </a:r>
            <a:r>
              <a:rPr lang="zh-TW" altLang="en-US" b="1" dirty="0">
                <a:effectLst/>
                <a:latin typeface="Google Sans Text"/>
              </a:rPr>
              <a:t>連續型的浮點數</a:t>
            </a:r>
            <a:r>
              <a:rPr lang="zh-TW" altLang="en-US" dirty="0"/>
              <a:t>（例如</a:t>
            </a:r>
            <a:r>
              <a:rPr lang="en-US" altLang="zh-TW" dirty="0"/>
              <a:t>: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分、</a:t>
            </a:r>
            <a:r>
              <a:rPr lang="en-US" altLang="zh-TW" dirty="0">
                <a:effectLst/>
                <a:latin typeface="Google Sans Text"/>
              </a:rPr>
              <a:t>4.78</a:t>
            </a:r>
            <a:r>
              <a:rPr lang="zh-TW" altLang="en-US" dirty="0"/>
              <a:t>分）。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浮點數蘊含了極高的「資訊量」。一個被評為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的文章，代表它介於 </a:t>
            </a:r>
            <a:r>
              <a:rPr lang="en-US" altLang="zh-TW" dirty="0"/>
              <a:t>3 </a:t>
            </a:r>
            <a:r>
              <a:rPr lang="zh-TW" altLang="en-US" dirty="0"/>
              <a:t>分到 </a:t>
            </a:r>
            <a:r>
              <a:rPr lang="en-US" altLang="zh-TW" dirty="0"/>
              <a:t>4 </a:t>
            </a:r>
            <a:r>
              <a:rPr lang="zh-TW" altLang="en-US" dirty="0"/>
              <a:t>分之間，但偏向 </a:t>
            </a:r>
            <a:r>
              <a:rPr lang="en-US" altLang="zh-TW" dirty="0"/>
              <a:t>3 </a:t>
            </a:r>
            <a:r>
              <a:rPr lang="zh-TW" altLang="en-US" dirty="0"/>
              <a:t>分。這種細微的語意豐富度，比單純給它一個死板的整數「</a:t>
            </a:r>
            <a:r>
              <a:rPr lang="en-US" altLang="zh-TW" dirty="0"/>
              <a:t>3</a:t>
            </a:r>
            <a:r>
              <a:rPr lang="zh-TW" altLang="en-US" dirty="0"/>
              <a:t>」或「</a:t>
            </a:r>
            <a:r>
              <a:rPr lang="en-US" altLang="zh-TW" dirty="0"/>
              <a:t>4</a:t>
            </a:r>
            <a:r>
              <a:rPr lang="zh-TW" altLang="en-US" dirty="0"/>
              <a:t>」，更能幫助模型理解文章質量的微小差距。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r>
              <a:rPr lang="zh-TW" altLang="en-US" dirty="0"/>
              <a:t>現在，手上有了：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這次比賽的</a:t>
            </a:r>
            <a:r>
              <a:rPr lang="zh-TW" altLang="en-US" b="1" dirty="0"/>
              <a:t>新資料</a:t>
            </a:r>
            <a:r>
              <a:rPr lang="zh-TW" altLang="en-US" dirty="0"/>
              <a:t>（標籤為整數：</a:t>
            </a:r>
            <a:r>
              <a:rPr lang="en-US" altLang="zh-TW" dirty="0"/>
              <a:t>1, 2, 3...</a:t>
            </a:r>
            <a:r>
              <a:rPr lang="zh-TW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被現代標準洗禮過的</a:t>
            </a:r>
            <a:r>
              <a:rPr lang="zh-TW" altLang="en-US" b="1" dirty="0"/>
              <a:t>舊資料</a:t>
            </a:r>
            <a:r>
              <a:rPr lang="zh-TW" altLang="en-US" dirty="0"/>
              <a:t>（標籤為精準的浮點數：</a:t>
            </a:r>
            <a:r>
              <a:rPr lang="en-US" altLang="zh-TW" dirty="0"/>
              <a:t>3.42, 4.78...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他把這兩批資料打包混在一起，重新訓練一個最終的終極模型。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zh-TW" altLang="en-US" b="0" dirty="0"/>
          </a:p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0365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只用這次比賽的新資料（標籤絕對正確、符合當前評分標準）來訓練一個強大的 </a:t>
            </a:r>
            <a:r>
              <a:rPr lang="en-US" altLang="zh-TW" b="0" dirty="0" err="1"/>
              <a:t>DeBERTa</a:t>
            </a:r>
            <a:r>
              <a:rPr lang="en-US" altLang="zh-TW" b="0" dirty="0"/>
              <a:t> </a:t>
            </a:r>
            <a:r>
              <a:rPr lang="zh-TW" altLang="en-US" b="0" dirty="0"/>
              <a:t>融合模型。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把那些有標籤落差的歷史舊資料拿出來，丟進這個「新裁判模型」裡進行預測。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模型預測舊資料時，輸出的不是硬生生的整數（</a:t>
            </a:r>
            <a:r>
              <a:rPr lang="en-US" altLang="zh-TW" dirty="0"/>
              <a:t>1, 2, 3...</a:t>
            </a:r>
            <a:r>
              <a:rPr lang="zh-TW" altLang="en-US" dirty="0"/>
              <a:t>），而是</a:t>
            </a:r>
            <a:r>
              <a:rPr lang="zh-TW" altLang="en-US" b="1" dirty="0">
                <a:effectLst/>
                <a:latin typeface="Google Sans Text"/>
              </a:rPr>
              <a:t>連續型的浮點數</a:t>
            </a:r>
            <a:r>
              <a:rPr lang="zh-TW" altLang="en-US" dirty="0"/>
              <a:t>（例如</a:t>
            </a:r>
            <a:r>
              <a:rPr lang="en-US" altLang="zh-TW" dirty="0"/>
              <a:t>: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分、</a:t>
            </a:r>
            <a:r>
              <a:rPr lang="en-US" altLang="zh-TW" dirty="0">
                <a:effectLst/>
                <a:latin typeface="Google Sans Text"/>
              </a:rPr>
              <a:t>4.78</a:t>
            </a:r>
            <a:r>
              <a:rPr lang="zh-TW" altLang="en-US" dirty="0"/>
              <a:t>分）。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浮點數蘊含了極高的「資訊量」。一個被評為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的文章，代表它介於 </a:t>
            </a:r>
            <a:r>
              <a:rPr lang="en-US" altLang="zh-TW" dirty="0"/>
              <a:t>3 </a:t>
            </a:r>
            <a:r>
              <a:rPr lang="zh-TW" altLang="en-US" dirty="0"/>
              <a:t>分到 </a:t>
            </a:r>
            <a:r>
              <a:rPr lang="en-US" altLang="zh-TW" dirty="0"/>
              <a:t>4 </a:t>
            </a:r>
            <a:r>
              <a:rPr lang="zh-TW" altLang="en-US" dirty="0"/>
              <a:t>分之間，但偏向 </a:t>
            </a:r>
            <a:r>
              <a:rPr lang="en-US" altLang="zh-TW" dirty="0"/>
              <a:t>3 </a:t>
            </a:r>
            <a:r>
              <a:rPr lang="zh-TW" altLang="en-US" dirty="0"/>
              <a:t>分。這種細微的語意豐富度，比單純給它一個死板的整數「</a:t>
            </a:r>
            <a:r>
              <a:rPr lang="en-US" altLang="zh-TW" dirty="0"/>
              <a:t>3</a:t>
            </a:r>
            <a:r>
              <a:rPr lang="zh-TW" altLang="en-US" dirty="0"/>
              <a:t>」或「</a:t>
            </a:r>
            <a:r>
              <a:rPr lang="en-US" altLang="zh-TW" dirty="0"/>
              <a:t>4</a:t>
            </a:r>
            <a:r>
              <a:rPr lang="zh-TW" altLang="en-US" dirty="0"/>
              <a:t>」，更能幫助模型理解文章質量的微小差距。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r>
              <a:rPr lang="zh-TW" altLang="en-US" dirty="0"/>
              <a:t>現在，手上有了：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這次比賽的</a:t>
            </a:r>
            <a:r>
              <a:rPr lang="zh-TW" altLang="en-US" b="1" dirty="0"/>
              <a:t>新資料</a:t>
            </a:r>
            <a:r>
              <a:rPr lang="zh-TW" altLang="en-US" dirty="0"/>
              <a:t>（標籤為整數：</a:t>
            </a:r>
            <a:r>
              <a:rPr lang="en-US" altLang="zh-TW" dirty="0"/>
              <a:t>1, 2, 3...</a:t>
            </a:r>
            <a:r>
              <a:rPr lang="zh-TW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被現代標準洗禮過的</a:t>
            </a:r>
            <a:r>
              <a:rPr lang="zh-TW" altLang="en-US" b="1" dirty="0"/>
              <a:t>舊資料</a:t>
            </a:r>
            <a:r>
              <a:rPr lang="zh-TW" altLang="en-US" dirty="0"/>
              <a:t>（標籤為精準的浮點數：</a:t>
            </a:r>
            <a:r>
              <a:rPr lang="en-US" altLang="zh-TW" dirty="0"/>
              <a:t>3.42, 4.78...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他把這兩批資料打包混在一起，重新訓練一個最終的終極模型。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zh-TW" altLang="en-US" b="0" dirty="0"/>
          </a:p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5529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只用這次比賽的新資料（標籤絕對正確、符合當前評分標準）來訓練一個強大的 </a:t>
            </a:r>
            <a:r>
              <a:rPr lang="en-US" altLang="zh-TW" b="0" dirty="0" err="1"/>
              <a:t>DeBERTa</a:t>
            </a:r>
            <a:r>
              <a:rPr lang="en-US" altLang="zh-TW" b="0" dirty="0"/>
              <a:t> </a:t>
            </a:r>
            <a:r>
              <a:rPr lang="zh-TW" altLang="en-US" b="0" dirty="0"/>
              <a:t>融合模型。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把那些有標籤落差的歷史舊資料拿出來，丟進這個「新裁判模型」裡進行預測。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模型預測舊資料時，輸出的不是硬生生的整數（</a:t>
            </a:r>
            <a:r>
              <a:rPr lang="en-US" altLang="zh-TW" dirty="0"/>
              <a:t>1, 2, 3...</a:t>
            </a:r>
            <a:r>
              <a:rPr lang="zh-TW" altLang="en-US" dirty="0"/>
              <a:t>），而是</a:t>
            </a:r>
            <a:r>
              <a:rPr lang="zh-TW" altLang="en-US" b="1" dirty="0">
                <a:effectLst/>
                <a:latin typeface="Google Sans Text"/>
              </a:rPr>
              <a:t>連續型的浮點數</a:t>
            </a:r>
            <a:r>
              <a:rPr lang="zh-TW" altLang="en-US" dirty="0"/>
              <a:t>（例如</a:t>
            </a:r>
            <a:r>
              <a:rPr lang="en-US" altLang="zh-TW" dirty="0"/>
              <a:t>: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分、</a:t>
            </a:r>
            <a:r>
              <a:rPr lang="en-US" altLang="zh-TW" dirty="0">
                <a:effectLst/>
                <a:latin typeface="Google Sans Text"/>
              </a:rPr>
              <a:t>4.78</a:t>
            </a:r>
            <a:r>
              <a:rPr lang="zh-TW" altLang="en-US" dirty="0"/>
              <a:t>分）。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浮點數蘊含了極高的「資訊量」。一個被評為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的文章，代表它介於 </a:t>
            </a:r>
            <a:r>
              <a:rPr lang="en-US" altLang="zh-TW" dirty="0"/>
              <a:t>3 </a:t>
            </a:r>
            <a:r>
              <a:rPr lang="zh-TW" altLang="en-US" dirty="0"/>
              <a:t>分到 </a:t>
            </a:r>
            <a:r>
              <a:rPr lang="en-US" altLang="zh-TW" dirty="0"/>
              <a:t>4 </a:t>
            </a:r>
            <a:r>
              <a:rPr lang="zh-TW" altLang="en-US" dirty="0"/>
              <a:t>分之間，但偏向 </a:t>
            </a:r>
            <a:r>
              <a:rPr lang="en-US" altLang="zh-TW" dirty="0"/>
              <a:t>3 </a:t>
            </a:r>
            <a:r>
              <a:rPr lang="zh-TW" altLang="en-US" dirty="0"/>
              <a:t>分。這種細微的語意豐富度，比單純給它一個死板的整數「</a:t>
            </a:r>
            <a:r>
              <a:rPr lang="en-US" altLang="zh-TW" dirty="0"/>
              <a:t>3</a:t>
            </a:r>
            <a:r>
              <a:rPr lang="zh-TW" altLang="en-US" dirty="0"/>
              <a:t>」或「</a:t>
            </a:r>
            <a:r>
              <a:rPr lang="en-US" altLang="zh-TW" dirty="0"/>
              <a:t>4</a:t>
            </a:r>
            <a:r>
              <a:rPr lang="zh-TW" altLang="en-US" dirty="0"/>
              <a:t>」，更能幫助模型理解文章質量的微小差距。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r>
              <a:rPr lang="zh-TW" altLang="en-US" dirty="0"/>
              <a:t>現在，手上有了：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這次比賽的</a:t>
            </a:r>
            <a:r>
              <a:rPr lang="zh-TW" altLang="en-US" b="1" dirty="0"/>
              <a:t>新資料</a:t>
            </a:r>
            <a:r>
              <a:rPr lang="zh-TW" altLang="en-US" dirty="0"/>
              <a:t>（標籤為整數：</a:t>
            </a:r>
            <a:r>
              <a:rPr lang="en-US" altLang="zh-TW" dirty="0"/>
              <a:t>1, 2, 3...</a:t>
            </a:r>
            <a:r>
              <a:rPr lang="zh-TW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被現代標準洗禮過的</a:t>
            </a:r>
            <a:r>
              <a:rPr lang="zh-TW" altLang="en-US" b="1" dirty="0"/>
              <a:t>舊資料</a:t>
            </a:r>
            <a:r>
              <a:rPr lang="zh-TW" altLang="en-US" dirty="0"/>
              <a:t>（標籤為精準的浮點數：</a:t>
            </a:r>
            <a:r>
              <a:rPr lang="en-US" altLang="zh-TW" dirty="0"/>
              <a:t>3.42, 4.78...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他把這兩批資料打包混在一起，重新訓練一個最終的終極模型。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zh-TW" altLang="en-US" b="0" dirty="0"/>
          </a:p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6401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只用這次比賽的新資料（標籤絕對正確、符合當前評分標準）來訓練一個強大的 </a:t>
            </a:r>
            <a:r>
              <a:rPr lang="en-US" altLang="zh-TW" b="0" dirty="0" err="1"/>
              <a:t>DeBERTa</a:t>
            </a:r>
            <a:r>
              <a:rPr lang="en-US" altLang="zh-TW" b="0" dirty="0"/>
              <a:t> </a:t>
            </a:r>
            <a:r>
              <a:rPr lang="zh-TW" altLang="en-US" b="0" dirty="0"/>
              <a:t>融合模型。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b="0" dirty="0"/>
              <a:t>把那些有標籤落差的歷史舊資料拿出來，丟進這個「新裁判模型」裡進行預測。</a:t>
            </a: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模型預測舊資料時，輸出的不是硬生生的整數（</a:t>
            </a:r>
            <a:r>
              <a:rPr lang="en-US" altLang="zh-TW" dirty="0"/>
              <a:t>1, 2, 3...</a:t>
            </a:r>
            <a:r>
              <a:rPr lang="zh-TW" altLang="en-US" dirty="0"/>
              <a:t>），而是</a:t>
            </a:r>
            <a:r>
              <a:rPr lang="zh-TW" altLang="en-US" b="1" dirty="0">
                <a:effectLst/>
                <a:latin typeface="Google Sans Text"/>
              </a:rPr>
              <a:t>連續型的浮點數</a:t>
            </a:r>
            <a:r>
              <a:rPr lang="zh-TW" altLang="en-US" dirty="0"/>
              <a:t>（例如</a:t>
            </a:r>
            <a:r>
              <a:rPr lang="en-US" altLang="zh-TW" dirty="0"/>
              <a:t>: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分、</a:t>
            </a:r>
            <a:r>
              <a:rPr lang="en-US" altLang="zh-TW" dirty="0">
                <a:effectLst/>
                <a:latin typeface="Google Sans Text"/>
              </a:rPr>
              <a:t>4.78</a:t>
            </a:r>
            <a:r>
              <a:rPr lang="zh-TW" altLang="en-US" dirty="0"/>
              <a:t>分）。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浮點數蘊含了極高的「資訊量」。一個被評為 </a:t>
            </a:r>
            <a:r>
              <a:rPr lang="en-US" altLang="zh-TW" dirty="0">
                <a:effectLst/>
                <a:latin typeface="Google Sans Text"/>
              </a:rPr>
              <a:t>3.42</a:t>
            </a:r>
            <a:r>
              <a:rPr lang="zh-TW" altLang="en-US" dirty="0"/>
              <a:t> 的文章，代表它介於 </a:t>
            </a:r>
            <a:r>
              <a:rPr lang="en-US" altLang="zh-TW" dirty="0"/>
              <a:t>3 </a:t>
            </a:r>
            <a:r>
              <a:rPr lang="zh-TW" altLang="en-US" dirty="0"/>
              <a:t>分到 </a:t>
            </a:r>
            <a:r>
              <a:rPr lang="en-US" altLang="zh-TW" dirty="0"/>
              <a:t>4 </a:t>
            </a:r>
            <a:r>
              <a:rPr lang="zh-TW" altLang="en-US" dirty="0"/>
              <a:t>分之間，但偏向 </a:t>
            </a:r>
            <a:r>
              <a:rPr lang="en-US" altLang="zh-TW" dirty="0"/>
              <a:t>3 </a:t>
            </a:r>
            <a:r>
              <a:rPr lang="zh-TW" altLang="en-US" dirty="0"/>
              <a:t>分。這種細微的語意豐富度，比單純給它一個死板的整數「</a:t>
            </a:r>
            <a:r>
              <a:rPr lang="en-US" altLang="zh-TW" dirty="0"/>
              <a:t>3</a:t>
            </a:r>
            <a:r>
              <a:rPr lang="zh-TW" altLang="en-US" dirty="0"/>
              <a:t>」或「</a:t>
            </a:r>
            <a:r>
              <a:rPr lang="en-US" altLang="zh-TW" dirty="0"/>
              <a:t>4</a:t>
            </a:r>
            <a:r>
              <a:rPr lang="zh-TW" altLang="en-US" dirty="0"/>
              <a:t>」，更能幫助模型理解文章質量的微小差距。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r>
              <a:rPr lang="zh-TW" altLang="en-US" dirty="0"/>
              <a:t>現在，手上有了：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這次比賽的</a:t>
            </a:r>
            <a:r>
              <a:rPr lang="zh-TW" altLang="en-US" b="1" dirty="0"/>
              <a:t>新資料</a:t>
            </a:r>
            <a:r>
              <a:rPr lang="zh-TW" altLang="en-US" dirty="0"/>
              <a:t>（標籤為整數：</a:t>
            </a:r>
            <a:r>
              <a:rPr lang="en-US" altLang="zh-TW" dirty="0"/>
              <a:t>1, 2, 3...</a:t>
            </a:r>
            <a:r>
              <a:rPr lang="zh-TW" altLang="en-US" dirty="0"/>
              <a:t>）。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被現代標準洗禮過的</a:t>
            </a:r>
            <a:r>
              <a:rPr lang="zh-TW" altLang="en-US" b="1" dirty="0"/>
              <a:t>舊資料</a:t>
            </a:r>
            <a:r>
              <a:rPr lang="zh-TW" altLang="en-US" dirty="0"/>
              <a:t>（標籤為精準的浮點數：</a:t>
            </a:r>
            <a:r>
              <a:rPr lang="en-US" altLang="zh-TW" dirty="0"/>
              <a:t>3.42, 4.78...</a:t>
            </a:r>
            <a:r>
              <a:rPr lang="zh-TW" altLang="en-US" dirty="0"/>
              <a:t>）。</a:t>
            </a:r>
          </a:p>
          <a:p>
            <a:r>
              <a:rPr lang="zh-TW" altLang="en-US" dirty="0"/>
              <a:t>他把這兩批資料打包混在一起，重新訓練一個最終的終極模型。</a:t>
            </a:r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en-US" altLang="zh-TW" b="0" dirty="0"/>
          </a:p>
          <a:p>
            <a:pPr>
              <a:buFont typeface="Arial" panose="020B0604020202020204" pitchFamily="34" charset="0"/>
              <a:buNone/>
            </a:pPr>
            <a:endParaRPr lang="zh-TW" altLang="en-US" b="0" dirty="0"/>
          </a:p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1799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因為這場比賽的本質是分類（</a:t>
            </a:r>
            <a:r>
              <a:rPr lang="en-US" altLang="zh-TW" dirty="0"/>
              <a:t>1-6</a:t>
            </a:r>
            <a:r>
              <a:rPr lang="zh-TW" altLang="en-US" dirty="0"/>
              <a:t>分），但直接當成分類任務訓練效果很差（無法體現 </a:t>
            </a:r>
            <a:r>
              <a:rPr lang="en-US" altLang="zh-TW" dirty="0"/>
              <a:t>1 </a:t>
            </a:r>
            <a:r>
              <a:rPr lang="zh-TW" altLang="en-US" dirty="0"/>
              <a:t>分到 </a:t>
            </a:r>
            <a:r>
              <a:rPr lang="en-US" altLang="zh-TW" dirty="0"/>
              <a:t>2 </a:t>
            </a:r>
            <a:r>
              <a:rPr lang="zh-TW" altLang="en-US" dirty="0"/>
              <a:t>分的差距小於 </a:t>
            </a:r>
            <a:r>
              <a:rPr lang="en-US" altLang="zh-TW" dirty="0"/>
              <a:t>1 </a:t>
            </a:r>
            <a:r>
              <a:rPr lang="zh-TW" altLang="en-US" dirty="0"/>
              <a:t>分到 </a:t>
            </a:r>
            <a:r>
              <a:rPr lang="en-US" altLang="zh-TW" dirty="0"/>
              <a:t>6 </a:t>
            </a:r>
            <a:r>
              <a:rPr lang="zh-TW" altLang="en-US" dirty="0"/>
              <a:t>分）。</a:t>
            </a:r>
            <a:endParaRPr lang="en-US" altLang="zh-TW" dirty="0"/>
          </a:p>
          <a:p>
            <a:r>
              <a:rPr lang="zh-TW" altLang="en-US" dirty="0"/>
              <a:t>因此頂尖選手全部採用迴歸（</a:t>
            </a:r>
            <a:r>
              <a:rPr lang="en-US" altLang="zh-TW" dirty="0"/>
              <a:t>Regression</a:t>
            </a:r>
            <a:r>
              <a:rPr lang="zh-TW" altLang="en-US" dirty="0"/>
              <a:t>）</a:t>
            </a:r>
            <a:r>
              <a:rPr lang="zh-TW" altLang="en-US" b="1" dirty="0"/>
              <a:t>或</a:t>
            </a:r>
            <a:r>
              <a:rPr lang="zh-TW" altLang="en-US" dirty="0"/>
              <a:t>序數迴歸（</a:t>
            </a:r>
            <a:r>
              <a:rPr lang="en-US" altLang="zh-TW" dirty="0"/>
              <a:t>Ordinal Regression</a:t>
            </a:r>
            <a:r>
              <a:rPr lang="zh-TW" altLang="en-US" dirty="0"/>
              <a:t>）來訓練，放行模型輸出連續的浮點數（例如 </a:t>
            </a:r>
            <a:r>
              <a:rPr lang="en-US" altLang="zh-TW" dirty="0"/>
              <a:t>3.42 </a:t>
            </a:r>
            <a:r>
              <a:rPr lang="zh-TW" altLang="en-US" dirty="0"/>
              <a:t>分）。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動態閾值優化</a:t>
            </a:r>
            <a:r>
              <a:rPr lang="zh-TW" altLang="en-US" dirty="0"/>
              <a:t>：如何把 </a:t>
            </a:r>
            <a:r>
              <a:rPr lang="en-US" altLang="zh-TW" dirty="0"/>
              <a:t>3.42 </a:t>
            </a:r>
            <a:r>
              <a:rPr lang="zh-TW" altLang="en-US" dirty="0"/>
              <a:t>變成整數？直接四捨五入就輸了。高分選手會使用優化演算法（如 </a:t>
            </a:r>
            <a:r>
              <a:rPr lang="en-US" altLang="zh-TW" dirty="0" err="1"/>
              <a:t>Nelder</a:t>
            </a:r>
            <a:r>
              <a:rPr lang="en-US" altLang="zh-TW" dirty="0"/>
              <a:t>-Mead </a:t>
            </a:r>
            <a:r>
              <a:rPr lang="zh-TW" altLang="en-US" dirty="0"/>
              <a:t>或 </a:t>
            </a:r>
            <a:r>
              <a:rPr lang="en-US" altLang="zh-TW" dirty="0" err="1"/>
              <a:t>Optuna</a:t>
            </a:r>
            <a:r>
              <a:rPr lang="zh-TW" altLang="en-US" dirty="0"/>
              <a:t>），在本地的驗證集上反覆尋找最完美的切分點（例如：大於 </a:t>
            </a:r>
            <a:r>
              <a:rPr lang="en-US" altLang="zh-TW" dirty="0"/>
              <a:t>2.51 </a:t>
            </a:r>
            <a:r>
              <a:rPr lang="zh-TW" altLang="en-US" dirty="0"/>
              <a:t>算 </a:t>
            </a:r>
            <a:r>
              <a:rPr lang="en-US" altLang="zh-TW" dirty="0"/>
              <a:t>3 </a:t>
            </a:r>
            <a:r>
              <a:rPr lang="zh-TW" altLang="en-US" dirty="0"/>
              <a:t>分，大於 </a:t>
            </a:r>
            <a:r>
              <a:rPr lang="en-US" altLang="zh-TW" dirty="0"/>
              <a:t>3.48 </a:t>
            </a:r>
            <a:r>
              <a:rPr lang="zh-TW" altLang="en-US" dirty="0"/>
              <a:t>算 </a:t>
            </a:r>
            <a:r>
              <a:rPr lang="en-US" altLang="zh-TW" dirty="0"/>
              <a:t>4 </a:t>
            </a:r>
            <a:r>
              <a:rPr lang="zh-TW" altLang="en-US" dirty="0"/>
              <a:t>分）。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b="1" dirty="0"/>
              <a:t>防止過擬合（</a:t>
            </a:r>
            <a:r>
              <a:rPr lang="en-US" altLang="zh-TW" b="1" dirty="0"/>
              <a:t>Overfitting</a:t>
            </a:r>
            <a:r>
              <a:rPr lang="zh-TW" altLang="en-US" b="1" dirty="0"/>
              <a:t>）</a:t>
            </a:r>
            <a:r>
              <a:rPr lang="zh-TW" altLang="en-US" dirty="0"/>
              <a:t>：前幾名都有提到，為了防止閾值在驗證集上過度擬合，他使用了 </a:t>
            </a:r>
            <a:r>
              <a:rPr lang="en-US" altLang="zh-TW" dirty="0"/>
              <a:t>3 </a:t>
            </a:r>
            <a:r>
              <a:rPr lang="zh-TW" altLang="en-US" dirty="0"/>
              <a:t>個不同的隨機種子（</a:t>
            </a:r>
            <a:r>
              <a:rPr lang="en-US" altLang="zh-TW" dirty="0"/>
              <a:t>3-Seed Average</a:t>
            </a:r>
            <a:r>
              <a:rPr lang="zh-TW" altLang="en-US" dirty="0"/>
              <a:t>）來平均所有模型的閾值，但這樣做造成容量很大，很消耗資源，但是有效的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7514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8708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過去 </a:t>
            </a:r>
            <a:r>
              <a:rPr lang="en-US" altLang="zh-TW" dirty="0"/>
              <a:t>AI </a:t>
            </a:r>
            <a:r>
              <a:rPr lang="zh-TW" altLang="en-US" dirty="0"/>
              <a:t>界認為只要模型越大、算力越多就會越強，導致參數一路飆升至萬億級別（如 </a:t>
            </a:r>
            <a:r>
              <a:rPr lang="en-US" altLang="zh-TW" dirty="0"/>
              <a:t>GPT-4</a:t>
            </a:r>
            <a:r>
              <a:rPr lang="zh-TW" altLang="en-US" dirty="0"/>
              <a:t>）。</a:t>
            </a:r>
            <a:endParaRPr lang="en-US" altLang="zh-TW" dirty="0"/>
          </a:p>
          <a:p>
            <a:endParaRPr lang="zh-TW" altLang="en-US" dirty="0"/>
          </a:p>
          <a:p>
            <a:r>
              <a:rPr lang="en-US" altLang="zh-TW" dirty="0"/>
              <a:t>DeepMind </a:t>
            </a:r>
            <a:r>
              <a:rPr lang="zh-TW" altLang="en-US" dirty="0"/>
              <a:t>在 </a:t>
            </a:r>
            <a:r>
              <a:rPr lang="en-US" altLang="zh-TW" dirty="0"/>
              <a:t>2022 </a:t>
            </a:r>
            <a:r>
              <a:rPr lang="zh-TW" altLang="en-US" dirty="0"/>
              <a:t>年證明，如果不按比例增加訓練資料，一味放大模型是低效的。</a:t>
            </a:r>
            <a:endParaRPr lang="en-US" altLang="zh-TW" dirty="0"/>
          </a:p>
          <a:p>
            <a:r>
              <a:rPr lang="zh-TW" altLang="en-US" dirty="0"/>
              <a:t>體積僅有四分之一但餵了 </a:t>
            </a:r>
            <a:r>
              <a:rPr lang="en-US" altLang="zh-TW" dirty="0"/>
              <a:t>4 </a:t>
            </a:r>
            <a:r>
              <a:rPr lang="zh-TW" altLang="en-US" dirty="0"/>
              <a:t>倍資料的 </a:t>
            </a:r>
            <a:r>
              <a:rPr lang="en-US" altLang="zh-TW" dirty="0"/>
              <a:t>Chinchilla </a:t>
            </a:r>
            <a:r>
              <a:rPr lang="zh-TW" altLang="en-US" dirty="0"/>
              <a:t>模型，表現反而超越了巨大的 </a:t>
            </a:r>
            <a:r>
              <a:rPr lang="en-US" altLang="zh-TW" dirty="0"/>
              <a:t>Gopher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研究指出，人類社會產生的優質文字（論文、書籍）總量即將被頂級模型消耗殆盡。</a:t>
            </a:r>
            <a:r>
              <a:rPr lang="en-US" altLang="zh-TW" dirty="0"/>
              <a:t>AI </a:t>
            </a:r>
            <a:r>
              <a:rPr lang="zh-TW" altLang="en-US" dirty="0"/>
              <a:t>發展面臨嚴重的「資料荒」。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記憶而非泛化：</a:t>
            </a:r>
            <a:r>
              <a:rPr lang="zh-TW" altLang="en-US" dirty="0"/>
              <a:t> 資料中若包含大量「高度相似、重寫」的重複內容，會導致模型只會「死記硬背」原文（甚至洩漏個資與版權內容），失去推理與泛化能力。</a:t>
            </a:r>
          </a:p>
          <a:p>
            <a:r>
              <a:rPr lang="zh-TW" altLang="en-US" b="1" dirty="0"/>
              <a:t>浪費模型容量：</a:t>
            </a:r>
            <a:r>
              <a:rPr lang="zh-TW" altLang="en-US" dirty="0"/>
              <a:t> 研究發現，僅僅重複 </a:t>
            </a:r>
            <a:r>
              <a:rPr lang="en-US" altLang="zh-TW" dirty="0"/>
              <a:t>0.1% </a:t>
            </a:r>
            <a:r>
              <a:rPr lang="zh-TW" altLang="en-US" dirty="0"/>
              <a:t>的資料 </a:t>
            </a:r>
            <a:r>
              <a:rPr lang="en-US" altLang="zh-TW" dirty="0"/>
              <a:t>100 </a:t>
            </a:r>
            <a:r>
              <a:rPr lang="zh-TW" altLang="en-US" dirty="0"/>
              <a:t>次，就會讓模型的實質運算容量與準確度直接折半。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AI </a:t>
            </a:r>
            <a:r>
              <a:rPr lang="zh-TW" altLang="en-US" dirty="0"/>
              <a:t>的勝負關鍵已經從「誰的算力大、參數多」</a:t>
            </a:r>
            <a:r>
              <a:rPr lang="zh-TW" altLang="en-US" b="1" dirty="0"/>
              <a:t>，轉變成</a:t>
            </a:r>
            <a:r>
              <a:rPr lang="zh-TW" altLang="en-US" dirty="0"/>
              <a:t>「誰能更聰明地篩選資料、並安全地生成高質量資料」。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5CE158-9644-4378-B553-9F0AD65DF851}" type="slidenum">
              <a:rPr lang="zh-TW" altLang="en-US" smtClean="0"/>
              <a:pPr/>
              <a:t>38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794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657D0-E0E5-47AE-BE42-D9948AAD9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4D4B928-C9F5-4E1A-AAA2-03EE088CA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789B2C-F893-4E18-844F-5E8446EFD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65823-3B1F-4689-9D44-0B497C954C09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74CE9A-E32A-4DE9-A19D-53052D4D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A1E859-4F49-403F-B780-C66C0FBF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4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1BA509-33E0-42F1-B8DB-41AFEC5D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0734C-0655-411A-A7FF-2E2C95889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96ED48-DDA0-4567-B349-4DC6E8ED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6D39-2D54-4B6E-8148-3A31915ACBC2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55B8C5-F25F-4806-8C87-1A149D06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3B59FB-E612-4EF5-BB1E-809BFEF2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57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0C82D-9FD0-4BF7-A1F3-15019969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EB6626-ADAC-4BFF-B7DD-2073B2C07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1BEA22-E3F8-4195-AD1E-3514D0ED1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59AA-AFE8-4E5B-B9A4-E6DB37A9604F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FF2C1D-8C55-4EBD-B4AD-8EC4DF08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0A92A8-5E2E-4666-BD84-3E4F72E6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0B367-CCD4-4CB9-8636-224F9BD6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EB0A07-2386-4511-90DD-532C61701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B9FD15-D53F-48D4-BB41-7887DCD03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3A2B89-88F0-42FC-BB59-57307E8A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FC35-5C42-4219-B320-8296603AB11E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610AB9-CE10-4019-BC81-4F98EA910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990AFF-8029-4A1F-9099-FAF41E7E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66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7831B-1A94-442B-83CC-306443A0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C2A736-B6E7-405A-BA6E-9F4ABB90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E747E4-3756-4B40-A48F-1FD011A8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C576917-8225-4950-BE45-4E3492E68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F6C5749-56FF-42F7-ACF4-17FE55DE6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832A721-4A50-464F-9E10-78A1DA9E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92AC3-84AD-4BC3-9DAD-461CD2981C22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F6530A0-C30E-4D4A-B49F-723FEBB72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450251-31F0-4DC3-B6B1-DDF3954C8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88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977F6-A2E0-446A-8E6D-181E3E00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541F70-10A8-4CD1-BA78-21A54B73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EFEC3-25D8-48C6-9686-F96BDC883C2E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D57C3BC-2F43-4049-A051-945D548A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3E41B4-3731-4198-924B-8A14249A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5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4848A75-9422-40CA-AE6F-CE088BAF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C050B-9FEF-41C5-849A-656A6B5B20FA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182982-8087-4485-BB5F-930734DD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5124E-6C5C-4DAA-8CA4-3679241E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9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456196-F7E6-487B-A322-0747ABC7D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D2504-656F-4A2C-939E-833AD7793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75EC02-C93E-4976-84F1-DD9FD05CF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FD635D-8740-483C-8178-8A74D1C7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8130-C474-435E-922C-31F7DEE893A7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E5731D-1ECD-49AE-AC4F-D42BFF4D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9F2128-1E50-4082-85A3-52462B08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90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1CED1E-213C-421D-85B9-921AB0EF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A252E6C-5079-4CF0-82E5-35FA3D8DD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B70E34-92F2-414E-8D85-FC7F52C64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661833-6130-4EE8-98C6-67A5E8E0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A327-06E9-45E2-BF3F-04F5F0C9494D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AABC57B-CB2F-4446-9D14-C763A451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2A1E60-2895-4CE6-A5D2-8061E2DE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5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D0CB-83CD-46A3-8F5B-7FEF13B1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F2CF4A1-358E-4538-831D-5F7E7C5FD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A0C737-F8E4-428D-9C47-DA865CD8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959BF-DF68-458E-9968-8ADB29C219E8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43D5F8-1D45-4996-B259-C8A29354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1A1D71-5F02-4C09-B2A4-2F45EE07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05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45CC23E-59A7-4537-AF4C-F5A61AE45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FCDD85-95B4-4A41-BEC3-8BA6D2DB8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7CF2C6-9AC2-4E0E-B28F-9723134C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10AA6-8343-4348-B589-17686B1CB7E2}" type="datetime1">
              <a:rPr lang="zh-TW" altLang="en-US" smtClean="0"/>
              <a:t>2026/6/8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7921C-D4EC-49CA-8516-A5386764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7E53F7-1AB4-4E1E-AB45-3688D2A5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8616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1BD898A-3F09-4945-A521-97041109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E97A3C-758F-4EC3-A154-3C295EF4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3667CE-A30D-47CE-8673-31F60B981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新細明體" panose="02020500000000000000" pitchFamily="18" charset="-120"/>
              </a:defRPr>
            </a:lvl1pPr>
          </a:lstStyle>
          <a:p>
            <a:fld id="{796B0631-9103-4B41-948D-ECCAE53D56F3}" type="datetime1">
              <a:rPr lang="zh-TW" altLang="en-US" smtClean="0"/>
              <a:pPr/>
              <a:t>2026/6/8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601B3A-2FCA-43F3-A0AB-C2D25EF0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新細明體" panose="02020500000000000000" pitchFamily="18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7EECB9-DC79-4C53-B5A8-B5C9DED99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新細明體" panose="02020500000000000000" pitchFamily="18" charset="-120"/>
              </a:defRPr>
            </a:lvl1pPr>
          </a:lstStyle>
          <a:p>
            <a:fld id="{99B93C38-C58C-4410-BF8D-A9C9BF85553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800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新細明體" panose="02020500000000000000" pitchFamily="18" charset="-12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新細明體" panose="02020500000000000000" pitchFamily="18" charset="-12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新細明體" panose="02020500000000000000" pitchFamily="18" charset="-12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新細明體" panose="02020500000000000000" pitchFamily="18" charset="-12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新細明體" panose="02020500000000000000" pitchFamily="18" charset="-12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新細明體" panose="02020500000000000000" pitchFamily="18" charset="-12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4CCFC0-2F94-46CC-9C0A-219347E63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b="1" dirty="0">
                <a:latin typeface="+mn-ea"/>
                <a:ea typeface="+mn-ea"/>
              </a:rPr>
              <a:t>Learning Agency Lab  Automated Essay Scoring 2.0 (AES)</a:t>
            </a:r>
            <a:endParaRPr lang="zh-TW" altLang="en-US" b="1" dirty="0">
              <a:latin typeface="+mn-ea"/>
              <a:ea typeface="+mn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C052C61-7BE9-4874-B73B-8D2567CDD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9332"/>
            <a:ext cx="9144000" cy="1278467"/>
          </a:xfrm>
        </p:spPr>
        <p:txBody>
          <a:bodyPr/>
          <a:lstStyle/>
          <a:p>
            <a:r>
              <a:rPr lang="zh-TW" altLang="en-US" dirty="0"/>
              <a:t>第一組 </a:t>
            </a:r>
            <a:r>
              <a:rPr lang="en-US" altLang="zh-TW" dirty="0"/>
              <a:t>B1121123 </a:t>
            </a:r>
            <a:r>
              <a:rPr lang="zh-TW" altLang="en-US" dirty="0"/>
              <a:t>巫煊崴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F1BB15-7DB3-454C-9387-0B2E792BF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087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D96DD-3575-476D-BB6E-86DA5E40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>
                <a:latin typeface="+mn-ea"/>
              </a:rPr>
              <a:t>Task</a:t>
            </a:r>
            <a:endParaRPr lang="zh-TW" altLang="en-US" sz="4000" dirty="0">
              <a:latin typeface="+mn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6F39AD-4EFE-46F9-BBF2-C3F2BC99E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7930" y="2555049"/>
            <a:ext cx="990600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4C32B6-4653-41C3-95BA-A45F9EA7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548"/>
            <a:ext cx="4483998" cy="48848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1C69AB-8C10-4BCF-85F6-748A4F4B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215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D96DD-3575-476D-BB6E-86DA5E40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>
                <a:latin typeface="+mn-ea"/>
              </a:rPr>
              <a:t>Task</a:t>
            </a:r>
            <a:endParaRPr lang="zh-TW" altLang="en-US" sz="4000" dirty="0">
              <a:latin typeface="+mn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6F39AD-4EFE-46F9-BBF2-C3F2BC99E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7930" y="2555049"/>
            <a:ext cx="990600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4C32B6-4653-41C3-95BA-A45F9EA7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548"/>
            <a:ext cx="4483998" cy="48848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1C69AB-8C10-4BCF-85F6-748A4F4B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7D244BF-88B5-4C42-88FC-6D9B21CC031F}"/>
              </a:ext>
            </a:extLst>
          </p:cNvPr>
          <p:cNvSpPr txBox="1"/>
          <p:nvPr/>
        </p:nvSpPr>
        <p:spPr>
          <a:xfrm>
            <a:off x="5596466" y="1862693"/>
            <a:ext cx="5757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新細明體" panose="02020500000000000000" pitchFamily="18" charset="-120"/>
              </a:rPr>
              <a:t>❌</a:t>
            </a:r>
            <a:r>
              <a:rPr lang="en-US" altLang="zh-TW" sz="2800" b="1" dirty="0">
                <a:latin typeface="新細明體" panose="02020500000000000000" pitchFamily="18" charset="-120"/>
              </a:rPr>
              <a:t>Classification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57594E-7476-4196-95FD-A9DED238BD2C}"/>
              </a:ext>
            </a:extLst>
          </p:cNvPr>
          <p:cNvSpPr txBox="1"/>
          <p:nvPr/>
        </p:nvSpPr>
        <p:spPr>
          <a:xfrm>
            <a:off x="5709073" y="2783075"/>
            <a:ext cx="5532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latin typeface="+mn-ea"/>
              </a:rPr>
              <a:t>多元分類會完全丟失「分數之間的順序與距離關係」，這與比賽的評估指標（</a:t>
            </a:r>
            <a:r>
              <a:rPr lang="en-US" altLang="zh-TW" sz="2400" dirty="0">
                <a:latin typeface="+mn-ea"/>
              </a:rPr>
              <a:t>QWK</a:t>
            </a:r>
            <a:r>
              <a:rPr lang="zh-TW" altLang="en-US" sz="2400" dirty="0">
                <a:latin typeface="+mn-ea"/>
              </a:rPr>
              <a:t>）背道而馳。</a:t>
            </a:r>
          </a:p>
        </p:txBody>
      </p:sp>
    </p:spTree>
    <p:extLst>
      <p:ext uri="{BB962C8B-B14F-4D97-AF65-F5344CB8AC3E}">
        <p14:creationId xmlns:p14="http://schemas.microsoft.com/office/powerpoint/2010/main" val="3262855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D96DD-3575-476D-BB6E-86DA5E40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>
                <a:latin typeface="+mn-ea"/>
              </a:rPr>
              <a:t>Task</a:t>
            </a:r>
            <a:endParaRPr lang="zh-TW" altLang="en-US" sz="4000" dirty="0">
              <a:latin typeface="+mn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6F39AD-4EFE-46F9-BBF2-C3F2BC99E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7930" y="2555049"/>
            <a:ext cx="990600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4C32B6-4653-41C3-95BA-A45F9EA7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548"/>
            <a:ext cx="4483998" cy="48848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1C69AB-8C10-4BCF-85F6-748A4F4B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7D244BF-88B5-4C42-88FC-6D9B21CC031F}"/>
              </a:ext>
            </a:extLst>
          </p:cNvPr>
          <p:cNvSpPr txBox="1"/>
          <p:nvPr/>
        </p:nvSpPr>
        <p:spPr>
          <a:xfrm>
            <a:off x="5838668" y="1924248"/>
            <a:ext cx="575733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新細明體" panose="02020500000000000000" pitchFamily="18" charset="-120"/>
              </a:rPr>
              <a:t>❌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新細明體" panose="02020500000000000000" pitchFamily="18" charset="-120"/>
              </a:rPr>
              <a:t>Classification</a:t>
            </a:r>
          </a:p>
          <a:p>
            <a:endParaRPr lang="en-US" altLang="zh-TW" sz="2800" dirty="0">
              <a:latin typeface="新細明體" panose="02020500000000000000" pitchFamily="18" charset="-120"/>
            </a:endParaRPr>
          </a:p>
          <a:p>
            <a:r>
              <a:rPr lang="zh-TW" altLang="en-US" sz="36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</a:t>
            </a:r>
            <a:r>
              <a:rPr lang="en-US" altLang="zh-TW" sz="2800" b="1" i="0" dirty="0">
                <a:effectLst/>
                <a:latin typeface="新細明體" panose="02020500000000000000" pitchFamily="18" charset="-120"/>
              </a:rPr>
              <a:t>Ordinal regression</a:t>
            </a:r>
          </a:p>
        </p:txBody>
      </p:sp>
    </p:spTree>
    <p:extLst>
      <p:ext uri="{BB962C8B-B14F-4D97-AF65-F5344CB8AC3E}">
        <p14:creationId xmlns:p14="http://schemas.microsoft.com/office/powerpoint/2010/main" val="3978686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46F2D-1885-4EEE-A79E-D0186AFD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</a:t>
            </a:r>
            <a:r>
              <a:rPr lang="en-US" altLang="zh-TW" sz="4400" b="1" i="0" dirty="0">
                <a:effectLst/>
                <a:latin typeface="新細明體" panose="02020500000000000000" pitchFamily="18" charset="-120"/>
              </a:rPr>
              <a:t>Ordinal regression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26CDF9-8EA1-4689-876D-D62774C3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49A5AE-3752-46D1-9B86-00C57ECB9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7688" y="1630556"/>
            <a:ext cx="9911316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1：這篇文章是否 &gt; 1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2：這篇文章是否 &gt; 2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3：這篇文章是否 &gt; 3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4：這篇文章是否 &gt; 4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5：這篇文章是否 &gt; 5 分？（是/否）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TW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TW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TW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57718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46F2D-1885-4EEE-A79E-D0186AFD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</a:t>
            </a:r>
            <a:r>
              <a:rPr lang="en-US" altLang="zh-TW" sz="4400" b="1" i="0" dirty="0">
                <a:effectLst/>
                <a:latin typeface="新細明體" panose="02020500000000000000" pitchFamily="18" charset="-120"/>
              </a:rPr>
              <a:t>Ordinal regression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26CDF9-8EA1-4689-876D-D62774C3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C49A5AE-3752-46D1-9B86-00C57ECB9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7688" y="1630556"/>
            <a:ext cx="9911316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1：這篇文章是否 &gt; 1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2：這篇文章是否 &gt; 2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3：這篇文章是否 &gt; 3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4：這篇文章是否 &gt; 4 分？（是/否）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問題 5：這篇文章是否 &gt; 5 分？（是/否）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TW" dirty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zh-TW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TW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loss=</a:t>
            </a:r>
            <a:r>
              <a:rPr lang="en-US" altLang="zh-TW" b="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keras.losses.BinaryCrossentropy</a:t>
            </a:r>
            <a:r>
              <a:rPr lang="en-US" altLang="zh-TW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zh-TW" dirty="0">
              <a:solidFill>
                <a:schemeClr val="accent1"/>
              </a:solidFill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8340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F774BC-D65F-4BA4-94F6-8041585E0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b="0" i="0" dirty="0">
                <a:effectLst/>
                <a:latin typeface="新細明體" panose="02020500000000000000" pitchFamily="18" charset="-120"/>
              </a:rPr>
              <a:t>Process Labels for Ordinal Regression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16D386-8B61-4F70-A376-A8BB751A4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將標籤轉換為序數矩陣，強制模型遵守作文分數的層級順序。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7712C3-7803-4733-95F1-4E05E133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487247-6881-42A0-91BF-F3FA6A7CF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92" y="2938011"/>
            <a:ext cx="5715798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06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3D96DD-3575-476D-BB6E-86DA5E40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>
                <a:latin typeface="+mn-ea"/>
              </a:rPr>
              <a:t>Task</a:t>
            </a:r>
            <a:endParaRPr lang="zh-TW" altLang="en-US" sz="4000" dirty="0">
              <a:latin typeface="+mn-ea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6F39AD-4EFE-46F9-BBF2-C3F2BC99EC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7930" y="2555049"/>
            <a:ext cx="990600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indent="0">
              <a:buNone/>
            </a:pPr>
            <a:endParaRPr lang="en-US" altLang="zh-TW" sz="2400" dirty="0">
              <a:latin typeface="+mn-ea"/>
            </a:endParaRPr>
          </a:p>
          <a:p>
            <a:pPr marL="0" indent="0">
              <a:buNone/>
            </a:pP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94C32B6-4653-41C3-95BA-A45F9EA7F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71548"/>
            <a:ext cx="4483998" cy="48848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1C69AB-8C10-4BCF-85F6-748A4F4B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7D244BF-88B5-4C42-88FC-6D9B21CC031F}"/>
              </a:ext>
            </a:extLst>
          </p:cNvPr>
          <p:cNvSpPr txBox="1"/>
          <p:nvPr/>
        </p:nvSpPr>
        <p:spPr>
          <a:xfrm>
            <a:off x="5838668" y="1924248"/>
            <a:ext cx="575733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新細明體" panose="02020500000000000000" pitchFamily="18" charset="-120"/>
              </a:rPr>
              <a:t>❌</a:t>
            </a:r>
            <a:r>
              <a:rPr lang="en-US" altLang="zh-TW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新細明體" panose="02020500000000000000" pitchFamily="18" charset="-120"/>
              </a:rPr>
              <a:t>Classification</a:t>
            </a:r>
            <a:endParaRPr lang="en-US" altLang="zh-TW" sz="28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新細明體" panose="02020500000000000000" pitchFamily="18" charset="-120"/>
            </a:endParaRPr>
          </a:p>
          <a:p>
            <a:endParaRPr lang="en-US" altLang="zh-TW" sz="2800" dirty="0">
              <a:latin typeface="新細明體" panose="02020500000000000000" pitchFamily="18" charset="-120"/>
            </a:endParaRPr>
          </a:p>
          <a:p>
            <a:r>
              <a:rPr lang="zh-TW" altLang="en-US" sz="36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</a:t>
            </a:r>
            <a:r>
              <a:rPr lang="en-US" altLang="zh-TW" sz="280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新細明體" panose="02020500000000000000" pitchFamily="18" charset="-120"/>
              </a:rPr>
              <a:t>Ordinal regression</a:t>
            </a:r>
          </a:p>
          <a:p>
            <a:endParaRPr lang="en-US" altLang="zh-TW" sz="2800" b="1" dirty="0">
              <a:latin typeface="新細明體" panose="02020500000000000000" pitchFamily="18" charset="-120"/>
            </a:endParaRPr>
          </a:p>
          <a:p>
            <a:r>
              <a:rPr lang="zh-TW" altLang="en-US" sz="28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  </a:t>
            </a:r>
            <a:r>
              <a:rPr lang="en-US" altLang="zh-TW" sz="2800" b="1" dirty="0">
                <a:latin typeface="新細明體" panose="02020500000000000000" pitchFamily="18" charset="-120"/>
              </a:rPr>
              <a:t>R</a:t>
            </a:r>
            <a:r>
              <a:rPr lang="en-US" altLang="zh-TW" sz="2800" b="1" i="0" dirty="0">
                <a:effectLst/>
                <a:latin typeface="新細明體" panose="02020500000000000000" pitchFamily="18" charset="-120"/>
              </a:rPr>
              <a:t>egression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AB5A77-6635-40E1-97F0-FE85C7E6C29D}"/>
              </a:ext>
            </a:extLst>
          </p:cNvPr>
          <p:cNvSpPr txBox="1"/>
          <p:nvPr/>
        </p:nvSpPr>
        <p:spPr>
          <a:xfrm>
            <a:off x="5838668" y="4547317"/>
            <a:ext cx="6053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zh-TW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loss=</a:t>
            </a:r>
            <a:r>
              <a:rPr lang="en-US" altLang="zh-TW" b="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keras.losses.MeanSquaredError</a:t>
            </a:r>
            <a:r>
              <a:rPr lang="en-US" altLang="zh-TW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03791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4B93D8-8C1B-496B-AE50-32938989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  </a:t>
            </a:r>
            <a:r>
              <a:rPr lang="en-US" altLang="zh-TW" sz="4400" b="1" dirty="0">
                <a:latin typeface="新細明體" panose="02020500000000000000" pitchFamily="18" charset="-120"/>
              </a:rPr>
              <a:t>R</a:t>
            </a:r>
            <a:r>
              <a:rPr lang="en-US" altLang="zh-TW" sz="4400" b="1" i="0" dirty="0">
                <a:effectLst/>
                <a:latin typeface="新細明體" panose="02020500000000000000" pitchFamily="18" charset="-120"/>
              </a:rPr>
              <a:t>egression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30981C-BDEB-493F-B8EA-E1E9841E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1DB47E-BB30-428A-8271-145CBBB8D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797" y="1690688"/>
            <a:ext cx="6216482" cy="136960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F15F6B2-2AAF-47A1-89A8-9FABD9883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797" y="3959460"/>
            <a:ext cx="6358479" cy="187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01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B39C3D6-D6A4-4164-944C-3A903811C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088" y="4028279"/>
            <a:ext cx="3654028" cy="17344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14B93D8-8C1B-496B-AE50-32938989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400" b="0" i="0" dirty="0">
                <a:solidFill>
                  <a:srgbClr val="92D050"/>
                </a:solidFill>
                <a:effectLst/>
                <a:latin typeface="新細明體" panose="02020500000000000000" pitchFamily="18" charset="-120"/>
              </a:rPr>
              <a:t>✓  </a:t>
            </a:r>
            <a:r>
              <a:rPr lang="en-US" altLang="zh-TW" sz="4400" b="1" dirty="0">
                <a:latin typeface="新細明體" panose="02020500000000000000" pitchFamily="18" charset="-120"/>
              </a:rPr>
              <a:t>R</a:t>
            </a:r>
            <a:r>
              <a:rPr lang="en-US" altLang="zh-TW" sz="4400" b="1" i="0" dirty="0">
                <a:effectLst/>
                <a:latin typeface="新細明體" panose="02020500000000000000" pitchFamily="18" charset="-120"/>
              </a:rPr>
              <a:t>egression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30981C-BDEB-493F-B8EA-E1E9841E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1DB47E-BB30-428A-8271-145CBBB8D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797" y="1690688"/>
            <a:ext cx="6216482" cy="136960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F15F6B2-2AAF-47A1-89A8-9FABD9883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3797" y="3959460"/>
            <a:ext cx="6358479" cy="187204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F6C269C-474E-4DB5-8E8E-551ECF7C9A7E}"/>
              </a:ext>
            </a:extLst>
          </p:cNvPr>
          <p:cNvSpPr/>
          <p:nvPr/>
        </p:nvSpPr>
        <p:spPr>
          <a:xfrm>
            <a:off x="8111701" y="4065462"/>
            <a:ext cx="3054609" cy="173440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7306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2C88E2-1154-410E-9901-D88C396A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142"/>
          </a:xfrm>
        </p:spPr>
        <p:txBody>
          <a:bodyPr/>
          <a:lstStyle/>
          <a:p>
            <a:pPr algn="ctr"/>
            <a:r>
              <a:rPr lang="en-US" altLang="zh-TW" dirty="0"/>
              <a:t>Reference code 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C64BE3-8E5D-42E8-A0D9-DDB8719D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397" y="1265993"/>
            <a:ext cx="7219604" cy="530126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C5D11FE-144A-454F-91AF-ED6C73BD740A}"/>
              </a:ext>
            </a:extLst>
          </p:cNvPr>
          <p:cNvSpPr/>
          <p:nvPr/>
        </p:nvSpPr>
        <p:spPr>
          <a:xfrm>
            <a:off x="2887132" y="3916627"/>
            <a:ext cx="7018869" cy="76675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D32F86A-E30B-41A9-9897-120F51DA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528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DBCB-30D8-4E85-B137-D7A6C12C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/>
          <a:lstStyle/>
          <a:p>
            <a:pPr algn="ctr"/>
            <a:r>
              <a:rPr lang="en-US" altLang="zh-TW" dirty="0"/>
              <a:t>Difficulty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02660-32F0-472C-A56E-14553775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81" y="1450731"/>
            <a:ext cx="10515600" cy="4351338"/>
          </a:xfrm>
        </p:spPr>
        <p:txBody>
          <a:bodyPr/>
          <a:lstStyle/>
          <a:p>
            <a:r>
              <a:rPr lang="zh-TW" altLang="en-US" dirty="0"/>
              <a:t>由於 </a:t>
            </a:r>
            <a:r>
              <a:rPr lang="en-US" altLang="zh-TW" dirty="0"/>
              <a:t>QWK</a:t>
            </a:r>
            <a:r>
              <a:rPr lang="zh-TW" altLang="en-US" dirty="0"/>
              <a:t> 不可微分，模型無法直接計算梯度透過反向傳播來更新模型的權重。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C7FB73-F2D4-4558-80A6-DAD8B593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FC9E8D-9FB4-4B85-959E-E5A995D1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64" y="3188994"/>
            <a:ext cx="6358479" cy="187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39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DBCB-30D8-4E85-B137-D7A6C12C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/>
          <a:lstStyle/>
          <a:p>
            <a:pPr algn="ctr"/>
            <a:r>
              <a:rPr lang="en-US" altLang="zh-TW" dirty="0"/>
              <a:t>Difficulty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02660-32F0-472C-A56E-14553775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81" y="1450731"/>
            <a:ext cx="10515600" cy="4351338"/>
          </a:xfrm>
        </p:spPr>
        <p:txBody>
          <a:bodyPr/>
          <a:lstStyle/>
          <a:p>
            <a:r>
              <a:rPr lang="zh-TW" altLang="en-US" dirty="0"/>
              <a:t>由於 </a:t>
            </a:r>
            <a:r>
              <a:rPr lang="en-US" altLang="zh-TW" dirty="0"/>
              <a:t>QWK</a:t>
            </a:r>
            <a:r>
              <a:rPr lang="zh-TW" altLang="en-US" dirty="0"/>
              <a:t> 不可微分，模型無法直接計算梯度透過反向傳播來更新模型的權重。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C7FB73-F2D4-4558-80A6-DAD8B593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FC9E8D-9FB4-4B85-959E-E5A995D12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64" y="3188994"/>
            <a:ext cx="6358479" cy="187204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9E5B047-526F-4006-AAB6-2DE5E1E385C0}"/>
              </a:ext>
            </a:extLst>
          </p:cNvPr>
          <p:cNvSpPr/>
          <p:nvPr/>
        </p:nvSpPr>
        <p:spPr>
          <a:xfrm>
            <a:off x="2479484" y="5615315"/>
            <a:ext cx="75027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3200" dirty="0">
                <a:solidFill>
                  <a:srgbClr val="C00000"/>
                </a:solidFill>
              </a:rPr>
              <a:t>Binary Cross Entropy  or   </a:t>
            </a:r>
            <a:r>
              <a:rPr lang="en-US" altLang="zh-TW" sz="320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MSE</a:t>
            </a:r>
            <a:endParaRPr lang="zh-TW" altLang="en-US" sz="32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9768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DBCB-30D8-4E85-B137-D7A6C12C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/>
          <a:lstStyle/>
          <a:p>
            <a:pPr algn="ctr"/>
            <a:r>
              <a:rPr lang="en-US" altLang="zh-TW" dirty="0"/>
              <a:t>Difficulty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02660-32F0-472C-A56E-14553775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81" y="1450731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+mn-ea"/>
              </a:rPr>
              <a:t>Class Imbalance</a:t>
            </a:r>
          </a:p>
          <a:p>
            <a:endParaRPr lang="zh-TW" altLang="en-US" dirty="0">
              <a:latin typeface="+mn-ea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107944-5C3C-41E7-81A4-5481834F7F9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717" y="2360875"/>
            <a:ext cx="7822128" cy="39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C7FB73-F2D4-4558-80A6-DAD8B593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922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DBCB-30D8-4E85-B137-D7A6C12C7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742"/>
          </a:xfrm>
        </p:spPr>
        <p:txBody>
          <a:bodyPr/>
          <a:lstStyle/>
          <a:p>
            <a:pPr algn="ctr"/>
            <a:r>
              <a:rPr lang="en-US" altLang="zh-TW" dirty="0"/>
              <a:t>Difficulty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302660-32F0-472C-A56E-14553775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81" y="1450731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+mn-ea"/>
              </a:rPr>
              <a:t>Class Imbalance</a:t>
            </a:r>
          </a:p>
          <a:p>
            <a:endParaRPr lang="zh-TW" altLang="en-US" dirty="0">
              <a:latin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C7FB73-F2D4-4558-80A6-DAD8B5934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B54043-BB9C-414F-8AF9-8C1CF31F6745}"/>
              </a:ext>
            </a:extLst>
          </p:cNvPr>
          <p:cNvSpPr/>
          <p:nvPr/>
        </p:nvSpPr>
        <p:spPr>
          <a:xfrm>
            <a:off x="3722453" y="5952034"/>
            <a:ext cx="51315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400" dirty="0">
                <a:solidFill>
                  <a:srgbClr val="C00000"/>
                </a:solidFill>
              </a:rPr>
              <a:t>Stratified K-Fold</a:t>
            </a:r>
            <a:endParaRPr lang="zh-TW" altLang="en-US" sz="2000" b="0" cap="none" spc="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27FF4EB-88E2-454E-843D-691D75739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996" y="2232924"/>
            <a:ext cx="9266434" cy="35691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911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D0BB85-8191-47E5-BF47-ED774943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419FFE-A113-4A86-A6FE-78FD0D0C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EAB0791-D112-4699-AF3C-CF36B06C7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797" y="1690688"/>
            <a:ext cx="8021603" cy="236756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6915AEE-4A56-4E5D-A597-85CADBFA6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257" y="4459878"/>
            <a:ext cx="8207486" cy="10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76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4407C2-53F5-45FD-8752-4D6B430E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First submission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168DB7C-14C4-4F0C-B293-9ECD1229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1" y="1623565"/>
            <a:ext cx="10155767" cy="51285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CE1068-7A26-4DB8-993D-3EC6A7A63C43}"/>
              </a:ext>
            </a:extLst>
          </p:cNvPr>
          <p:cNvSpPr/>
          <p:nvPr/>
        </p:nvSpPr>
        <p:spPr>
          <a:xfrm>
            <a:off x="1320800" y="5918200"/>
            <a:ext cx="9457267" cy="76675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0021833-E8EA-4052-95A7-79467A1D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044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D36D2-BB2D-46EC-A848-3E8BAA89A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3600" dirty="0">
                <a:solidFill>
                  <a:srgbClr val="FF0000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參考了</a:t>
            </a:r>
            <a:r>
              <a:rPr lang="en-US" altLang="zh-TW" sz="3600" dirty="0">
                <a:solidFill>
                  <a:srgbClr val="FF0000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Kaggle AES 2.0 </a:t>
            </a:r>
            <a:r>
              <a:rPr lang="zh-TW" altLang="zh-TW" sz="3600" dirty="0">
                <a:solidFill>
                  <a:srgbClr val="FF0000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討論區，加上我自己的理解 </a:t>
            </a:r>
            <a:endParaRPr lang="zh-TW" altLang="en-US" sz="3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9FA3A5E-1250-417F-94FC-3EC981D8D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621" y="1436646"/>
            <a:ext cx="9293469" cy="517374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E2EF081-68BD-4111-A9CC-74B1330C1A27}"/>
              </a:ext>
            </a:extLst>
          </p:cNvPr>
          <p:cNvSpPr/>
          <p:nvPr/>
        </p:nvSpPr>
        <p:spPr>
          <a:xfrm>
            <a:off x="4132386" y="1978269"/>
            <a:ext cx="870437" cy="41323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A229698-2055-4DCD-89C6-D809EBCC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276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C70CC-0D8A-4EFC-AFB5-043F5573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E0C121-717E-41E6-8BC6-C067E0A3A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先把 </a:t>
            </a:r>
            <a:r>
              <a:rPr lang="en-US" altLang="zh-TW" dirty="0" err="1"/>
              <a:t>seq_length</a:t>
            </a:r>
            <a:r>
              <a:rPr lang="zh-TW" altLang="en-US" dirty="0"/>
              <a:t> 、</a:t>
            </a:r>
            <a:r>
              <a:rPr lang="en-US" altLang="zh-TW" dirty="0"/>
              <a:t> batch … </a:t>
            </a:r>
            <a:r>
              <a:rPr lang="zh-TW" altLang="en-US" dirty="0"/>
              <a:t>改成 </a:t>
            </a:r>
            <a:r>
              <a:rPr lang="en-US" altLang="zh-TW" dirty="0"/>
              <a:t>256</a:t>
            </a:r>
            <a:r>
              <a:rPr lang="zh-TW" altLang="en-US" dirty="0"/>
              <a:t>、</a:t>
            </a:r>
            <a:r>
              <a:rPr lang="en-US" altLang="zh-TW" dirty="0"/>
              <a:t> 8</a:t>
            </a:r>
            <a:r>
              <a:rPr lang="zh-TW" altLang="en-US" dirty="0"/>
              <a:t> 讓訓練更快速，先確保方法有用，避免一直燒錢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B252D7-EC37-445C-8314-2282413D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077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C70CC-0D8A-4EFC-AFB5-043F5573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57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/>
              <a:t>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E0C121-717E-41E6-8BC6-C067E0A3A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89000"/>
            <a:ext cx="11396132" cy="4949297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先得到原資料缺少的 </a:t>
            </a:r>
            <a:r>
              <a:rPr lang="en-US" altLang="zh-TW" dirty="0" err="1"/>
              <a:t>prompt_name</a:t>
            </a:r>
            <a:r>
              <a:rPr lang="en-US" altLang="zh-TW" dirty="0"/>
              <a:t> </a:t>
            </a:r>
            <a:r>
              <a:rPr lang="zh-TW" altLang="en-US" dirty="0"/>
              <a:t>，再根據 </a:t>
            </a:r>
            <a:r>
              <a:rPr lang="en-US" altLang="zh-TW" dirty="0" err="1"/>
              <a:t>prompt_name</a:t>
            </a:r>
            <a:r>
              <a:rPr lang="en-US" altLang="zh-TW" dirty="0"/>
              <a:t> </a:t>
            </a:r>
            <a:r>
              <a:rPr lang="zh-TW" altLang="en-US" dirty="0"/>
              <a:t>去做 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-fold CV</a:t>
            </a:r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000466-A8E2-42B0-AD95-E88C28F5E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608" y="2624270"/>
            <a:ext cx="6987318" cy="373208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F59E26-6E34-4AC7-86C0-F71CE380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97CA4C-1B77-4ABF-BBD5-B9DA49B5AB09}"/>
              </a:ext>
            </a:extLst>
          </p:cNvPr>
          <p:cNvSpPr/>
          <p:nvPr/>
        </p:nvSpPr>
        <p:spPr>
          <a:xfrm>
            <a:off x="7740163" y="3654669"/>
            <a:ext cx="1175237" cy="27016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3676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C70CC-0D8A-4EFC-AFB5-043F5573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578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/>
              <a:t>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E0C121-717E-41E6-8BC6-C067E0A3A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889000"/>
            <a:ext cx="11396132" cy="4949297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先得到原資料缺少的 </a:t>
            </a:r>
            <a:r>
              <a:rPr lang="en-US" altLang="zh-TW" dirty="0" err="1"/>
              <a:t>prompt_name</a:t>
            </a:r>
            <a:r>
              <a:rPr lang="en-US" altLang="zh-TW" dirty="0"/>
              <a:t> </a:t>
            </a:r>
            <a:r>
              <a:rPr lang="zh-TW" altLang="en-US" dirty="0"/>
              <a:t>，再根據 </a:t>
            </a:r>
            <a:r>
              <a:rPr lang="en-US" altLang="zh-TW" dirty="0" err="1"/>
              <a:t>prompt_name</a:t>
            </a:r>
            <a:r>
              <a:rPr lang="en-US" altLang="zh-TW" dirty="0"/>
              <a:t> </a:t>
            </a:r>
            <a:r>
              <a:rPr lang="zh-TW" altLang="en-US" dirty="0"/>
              <a:t>去做 </a:t>
            </a:r>
            <a:r>
              <a:rPr lang="en-US" altLang="zh-TW" dirty="0">
                <a:solidFill>
                  <a:srgbClr val="FF0000"/>
                </a:solidFill>
              </a:rPr>
              <a:t>7</a:t>
            </a:r>
            <a:r>
              <a:rPr lang="en-US" altLang="zh-TW" dirty="0"/>
              <a:t>-fold CV</a:t>
            </a:r>
          </a:p>
          <a:p>
            <a:r>
              <a:rPr lang="en-US" altLang="zh-TW" dirty="0"/>
              <a:t>2-stage training:</a:t>
            </a:r>
            <a:r>
              <a:rPr lang="zh-TW" altLang="en-US" dirty="0"/>
              <a:t> 先用 </a:t>
            </a:r>
            <a:r>
              <a:rPr lang="en-US" altLang="zh-TW" dirty="0"/>
              <a:t>persuade_2.0 </a:t>
            </a:r>
            <a:r>
              <a:rPr lang="en-US" altLang="zh-TW" dirty="0" err="1"/>
              <a:t>pre_traning</a:t>
            </a:r>
            <a:r>
              <a:rPr lang="zh-TW" altLang="en-US" dirty="0"/>
              <a:t>，再用原始資料 </a:t>
            </a:r>
            <a:r>
              <a:rPr lang="en-US" altLang="zh-TW" dirty="0"/>
              <a:t>fine-tune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000466-A8E2-42B0-AD95-E88C28F5E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608" y="2624270"/>
            <a:ext cx="6987318" cy="373208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F59E26-6E34-4AC7-86C0-F71CE380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97CA4C-1B77-4ABF-BBD5-B9DA49B5AB09}"/>
              </a:ext>
            </a:extLst>
          </p:cNvPr>
          <p:cNvSpPr/>
          <p:nvPr/>
        </p:nvSpPr>
        <p:spPr>
          <a:xfrm>
            <a:off x="7740163" y="3654669"/>
            <a:ext cx="1175237" cy="27016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6498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7DBEC78-7F51-421B-9635-CDDFC26B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3" y="708278"/>
            <a:ext cx="10444250" cy="567558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2858343-FB1C-46C7-9B4F-6C5C55FE638D}"/>
              </a:ext>
            </a:extLst>
          </p:cNvPr>
          <p:cNvSpPr/>
          <p:nvPr/>
        </p:nvSpPr>
        <p:spPr>
          <a:xfrm>
            <a:off x="1367366" y="5833533"/>
            <a:ext cx="9486901" cy="44026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6ABAF29-5804-4EF1-8228-F8ADAC5A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95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8A58D5-3754-4E0C-BD01-86105B521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A1263F-08B5-48D5-9544-D744F56E1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3" y="476888"/>
            <a:ext cx="11188673" cy="608372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3AE7BA-2353-44E8-BC0F-7C1BC06A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347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517C-89F4-441B-9D8A-C016248F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2472089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使用了討論區的方法，結果反而沒有比較好</a:t>
            </a:r>
            <a:r>
              <a:rPr lang="en-US" altLang="zh-TW" sz="4000" dirty="0"/>
              <a:t>?</a:t>
            </a:r>
            <a:endParaRPr lang="zh-TW" altLang="en-US" sz="40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01A58B-17A1-4DA4-8714-1DC8D34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45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517C-89F4-441B-9D8A-C016248F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35" y="3215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/>
              <a:t>分類方式不好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01A58B-17A1-4DA4-8714-1DC8D34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F348E24-291D-4C02-86F1-115E91DFAA13}"/>
              </a:ext>
            </a:extLst>
          </p:cNvPr>
          <p:cNvSpPr txBox="1"/>
          <p:nvPr/>
        </p:nvSpPr>
        <p:spPr>
          <a:xfrm>
            <a:off x="821267" y="1473200"/>
            <a:ext cx="10336468" cy="4690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E70BDFA-11F3-4EE4-B771-85E12A2BC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868" y="1727252"/>
            <a:ext cx="9939867" cy="44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60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8BB78C-2890-4EDB-A358-0646DE8C3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33" y="1678041"/>
            <a:ext cx="11218333" cy="4351338"/>
          </a:xfrm>
        </p:spPr>
        <p:txBody>
          <a:bodyPr/>
          <a:lstStyle/>
          <a:p>
            <a:r>
              <a:rPr lang="zh-TW" altLang="en-US" dirty="0"/>
              <a:t>建立 </a:t>
            </a:r>
            <a:r>
              <a:rPr lang="en-US" altLang="zh-TW" dirty="0"/>
              <a:t>7 </a:t>
            </a:r>
            <a:r>
              <a:rPr lang="zh-TW" altLang="en-US" dirty="0"/>
              <a:t>個作文題目，並幫每個題目寫下一串最具代表性的 </a:t>
            </a:r>
            <a:r>
              <a:rPr lang="en-US" altLang="zh-TW" dirty="0"/>
              <a:t>Keywords</a:t>
            </a:r>
          </a:p>
          <a:p>
            <a:endParaRPr lang="en-US" altLang="zh-TW" dirty="0"/>
          </a:p>
          <a:p>
            <a:r>
              <a:rPr lang="en-US" altLang="zh-TW" dirty="0"/>
              <a:t>Keywords </a:t>
            </a:r>
            <a:r>
              <a:rPr lang="zh-TW" altLang="en-US" dirty="0"/>
              <a:t>轉換成 </a:t>
            </a:r>
            <a:r>
              <a:rPr lang="en-US" altLang="zh-TW" dirty="0"/>
              <a:t>7 </a:t>
            </a:r>
            <a:r>
              <a:rPr lang="zh-TW" altLang="en-US" dirty="0"/>
              <a:t>個高維度的 </a:t>
            </a:r>
            <a:r>
              <a:rPr lang="en-US" altLang="zh-TW" dirty="0"/>
              <a:t>TF-IDF </a:t>
            </a:r>
            <a:r>
              <a:rPr lang="zh-TW" altLang="en-US" dirty="0"/>
              <a:t>向量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i="0" dirty="0">
                <a:effectLst/>
                <a:latin typeface="Google Sans Flex"/>
              </a:rPr>
              <a:t>計算兩個向量在空間中的夾角</a:t>
            </a:r>
            <a:endParaRPr lang="en-US" altLang="zh-TW" i="0" dirty="0">
              <a:effectLst/>
              <a:latin typeface="Google Sans Flex"/>
            </a:endParaRPr>
          </a:p>
          <a:p>
            <a:pPr marL="0" indent="0">
              <a:buNone/>
            </a:pPr>
            <a:r>
              <a:rPr lang="zh-TW" altLang="en-US" i="0" dirty="0">
                <a:effectLst/>
                <a:latin typeface="Google Sans Flex"/>
              </a:rPr>
              <a:t>夾角越小，餘弦值越接近 </a:t>
            </a:r>
            <a:r>
              <a:rPr lang="en-US" altLang="zh-TW" i="0" dirty="0">
                <a:effectLst/>
                <a:latin typeface="Google Sans Flex"/>
              </a:rPr>
              <a:t>1</a:t>
            </a:r>
            <a:r>
              <a:rPr lang="zh-TW" altLang="en-US" i="0" dirty="0">
                <a:effectLst/>
                <a:latin typeface="Google Sans Flex"/>
              </a:rPr>
              <a:t>，代表兩篇文本使用的詞彙</a:t>
            </a:r>
            <a:r>
              <a:rPr lang="zh-TW" altLang="en-US" dirty="0">
                <a:latin typeface="Google Sans Flex"/>
              </a:rPr>
              <a:t>相似程度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F3F483-2603-43D7-B86E-E099012A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97A64E-1F16-4D52-A5DF-0387BDE15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04740"/>
            <a:ext cx="105961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</a:rPr>
              <a:t>TfidfVectorizer 搭配</a:t>
            </a:r>
            <a:r>
              <a:rPr kumimoji="0" lang="zh-TW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</a:rPr>
              <a:t> </a:t>
            </a:r>
            <a:r>
              <a:rPr kumimoji="0" lang="zh-TW" altLang="zh-TW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</a:rPr>
              <a:t>Cosine Similarity </a:t>
            </a:r>
          </a:p>
        </p:txBody>
      </p:sp>
    </p:spTree>
    <p:extLst>
      <p:ext uri="{BB962C8B-B14F-4D97-AF65-F5344CB8AC3E}">
        <p14:creationId xmlns:p14="http://schemas.microsoft.com/office/powerpoint/2010/main" val="4284477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517C-89F4-441B-9D8A-C016248F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69"/>
            <a:ext cx="10515600" cy="1099953"/>
          </a:xfrm>
        </p:spPr>
        <p:txBody>
          <a:bodyPr>
            <a:noAutofit/>
          </a:bodyPr>
          <a:lstStyle/>
          <a:p>
            <a:pPr algn="ctr"/>
            <a:r>
              <a:rPr lang="zh-TW" altLang="en-US" sz="4800" dirty="0"/>
              <a:t>評分標準改變了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01A58B-17A1-4DA4-8714-1DC8D34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E56E70-53E7-49E5-B478-C236F3D45504}"/>
              </a:ext>
            </a:extLst>
          </p:cNvPr>
          <p:cNvSpPr txBox="1"/>
          <p:nvPr/>
        </p:nvSpPr>
        <p:spPr>
          <a:xfrm>
            <a:off x="838200" y="2078649"/>
            <a:ext cx="10236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直接把新舊資料混在一起訓練會干擾模型</a:t>
            </a:r>
            <a:endParaRPr lang="en-US" altLang="zh-TW" sz="2800" dirty="0"/>
          </a:p>
          <a:p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138340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517C-89F4-441B-9D8A-C016248F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69"/>
            <a:ext cx="10515600" cy="1099953"/>
          </a:xfrm>
        </p:spPr>
        <p:txBody>
          <a:bodyPr>
            <a:noAutofit/>
          </a:bodyPr>
          <a:lstStyle/>
          <a:p>
            <a:pPr algn="ctr"/>
            <a:r>
              <a:rPr lang="zh-TW" altLang="en-US" sz="4800" dirty="0"/>
              <a:t>評分標準改變了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01A58B-17A1-4DA4-8714-1DC8D34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E56E70-53E7-49E5-B478-C236F3D45504}"/>
              </a:ext>
            </a:extLst>
          </p:cNvPr>
          <p:cNvSpPr txBox="1"/>
          <p:nvPr/>
        </p:nvSpPr>
        <p:spPr>
          <a:xfrm>
            <a:off x="838200" y="2078649"/>
            <a:ext cx="102362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直接把新舊資料混在一起訓練會干擾模型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舊資料轉換為符合新資料評分標準的訓練集</a:t>
            </a: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31470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31517C-89F4-441B-9D8A-C016248F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5869"/>
            <a:ext cx="10515600" cy="1099953"/>
          </a:xfrm>
        </p:spPr>
        <p:txBody>
          <a:bodyPr>
            <a:noAutofit/>
          </a:bodyPr>
          <a:lstStyle/>
          <a:p>
            <a:pPr algn="ctr"/>
            <a:r>
              <a:rPr lang="zh-TW" altLang="en-US" sz="4800" dirty="0"/>
              <a:t>評分標準改變了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01A58B-17A1-4DA4-8714-1DC8D34E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8E56E70-53E7-49E5-B478-C236F3D45504}"/>
              </a:ext>
            </a:extLst>
          </p:cNvPr>
          <p:cNvSpPr txBox="1"/>
          <p:nvPr/>
        </p:nvSpPr>
        <p:spPr>
          <a:xfrm>
            <a:off x="838200" y="2078649"/>
            <a:ext cx="10236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直接把新舊資料混在一起訓練會干擾模型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舊資料轉換為符合新資料評分標準的訓練集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AES</a:t>
            </a:r>
            <a:r>
              <a:rPr lang="zh-TW" altLang="en-US" sz="2800" dirty="0"/>
              <a:t> </a:t>
            </a:r>
            <a:r>
              <a:rPr lang="en-US" altLang="zh-TW" sz="2800" dirty="0"/>
              <a:t>data ➜ train </a:t>
            </a:r>
            <a:r>
              <a:rPr lang="en-US" altLang="zh-TW" sz="2800" b="0" dirty="0" err="1"/>
              <a:t>DeBERTa</a:t>
            </a:r>
            <a:r>
              <a:rPr lang="en-US" altLang="zh-TW" sz="2800" b="0" dirty="0"/>
              <a:t> ➜ </a:t>
            </a:r>
            <a:r>
              <a:rPr lang="en-US" altLang="zh-TW" sz="2800" dirty="0"/>
              <a:t>Pseudo-Labeling ➜ get </a:t>
            </a:r>
            <a:r>
              <a:rPr lang="en-US" altLang="zh-TW" sz="2800" dirty="0" err="1"/>
              <a:t>new_score</a:t>
            </a:r>
            <a:r>
              <a:rPr lang="zh-TW" altLang="en-US" sz="2800" dirty="0"/>
              <a:t> </a:t>
            </a:r>
            <a:endParaRPr lang="en-US" altLang="zh-TW" sz="2800" dirty="0"/>
          </a:p>
          <a:p>
            <a:pPr marL="0" indent="0">
              <a:buNone/>
            </a:pPr>
            <a:r>
              <a:rPr lang="en-US" altLang="zh-TW" sz="2800" dirty="0"/>
              <a:t>	➜  mix AES and persuade 2.0 with </a:t>
            </a:r>
            <a:r>
              <a:rPr lang="en-US" altLang="zh-TW" sz="2800" dirty="0" err="1"/>
              <a:t>new_score</a:t>
            </a:r>
            <a:r>
              <a:rPr lang="en-US" altLang="zh-TW" sz="2800" dirty="0"/>
              <a:t> to train model</a:t>
            </a:r>
            <a:endParaRPr lang="en-US" altLang="zh-TW" dirty="0"/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724903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A7C073-3397-45AC-BD60-1CF2B110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AC156AC-2019-42CD-8E77-AFDC7A8D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255296"/>
            <a:ext cx="11658600" cy="284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79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A7C073-3397-45AC-BD60-1CF2B110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AC156AC-2019-42CD-8E77-AFDC7A8D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255296"/>
            <a:ext cx="11658600" cy="284740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922AD3B-83EC-4EAF-998B-F3C33B7A0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67" y="3102698"/>
            <a:ext cx="11658600" cy="231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A7C073-3397-45AC-BD60-1CF2B110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AC156AC-2019-42CD-8E77-AFDC7A8D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255296"/>
            <a:ext cx="11658600" cy="284740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922AD3B-83EC-4EAF-998B-F3C33B7A0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67" y="3102698"/>
            <a:ext cx="11658600" cy="2319867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CA4FE6E-FB55-498A-91FD-850A1A52A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67" y="5334000"/>
            <a:ext cx="116586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70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585AB4-AF8B-4A5A-9333-3C043B90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E5362C-1756-4D88-BDD5-4336221DF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492B25-3B7A-43B9-90AF-7E62A9E9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C71BE33-9186-48CE-80EC-E27EB01BE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48"/>
            <a:ext cx="12192000" cy="672202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8D8510B-A81D-4D91-BF41-50EBBF0FE47A}"/>
              </a:ext>
            </a:extLst>
          </p:cNvPr>
          <p:cNvSpPr/>
          <p:nvPr/>
        </p:nvSpPr>
        <p:spPr>
          <a:xfrm>
            <a:off x="8950036" y="5643418"/>
            <a:ext cx="2743200" cy="113578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2434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2F83CB-CF7E-4AD2-8BE7-07713930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Pseudo-Labeling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A5F2B8-18C3-4BAF-834F-F3E37914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AES</a:t>
            </a:r>
            <a:r>
              <a:rPr lang="zh-TW" altLang="en-US" dirty="0"/>
              <a:t> </a:t>
            </a:r>
            <a:r>
              <a:rPr lang="en-US" altLang="zh-TW" dirty="0"/>
              <a:t>data ➜ train </a:t>
            </a:r>
            <a:r>
              <a:rPr lang="en-US" altLang="zh-TW" b="0" dirty="0" err="1"/>
              <a:t>DeBERTa</a:t>
            </a:r>
            <a:r>
              <a:rPr lang="en-US" altLang="zh-TW" b="0" dirty="0"/>
              <a:t> ➜ </a:t>
            </a:r>
            <a:r>
              <a:rPr lang="en-US" altLang="zh-TW" dirty="0"/>
              <a:t>Pseudo-Labeling ➜ get </a:t>
            </a:r>
            <a:r>
              <a:rPr lang="en-US" altLang="zh-TW" dirty="0" err="1"/>
              <a:t>new_score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➜  mix AES and persuade 2.0 with </a:t>
            </a:r>
            <a:r>
              <a:rPr lang="en-US" altLang="zh-TW" dirty="0" err="1"/>
              <a:t>new_score</a:t>
            </a:r>
            <a:r>
              <a:rPr lang="en-US" altLang="zh-TW" dirty="0"/>
              <a:t> to train model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每一階段都基於 </a:t>
            </a:r>
            <a:r>
              <a:rPr lang="en-US" altLang="zh-TW" dirty="0" err="1"/>
              <a:t>prompt_id</a:t>
            </a:r>
            <a:r>
              <a:rPr lang="en-US" altLang="zh-TW" dirty="0"/>
              <a:t> + score </a:t>
            </a:r>
            <a:r>
              <a:rPr lang="zh-TW" altLang="en-US" dirty="0"/>
              <a:t>的 </a:t>
            </a:r>
            <a:r>
              <a:rPr lang="en-US" altLang="zh-TW" dirty="0"/>
              <a:t>Stratified 5 fold</a:t>
            </a:r>
            <a:r>
              <a:rPr lang="zh-TW" altLang="en-US" dirty="0"/>
              <a:t> </a:t>
            </a:r>
            <a:r>
              <a:rPr lang="en-US" altLang="zh-TW" dirty="0"/>
              <a:t>CV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A7C073-3397-45AC-BD60-1CF2B110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9512BAE-516B-43B2-B224-1F18DF8F9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771" y="4428600"/>
            <a:ext cx="6632962" cy="149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1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25B85-F4D3-440E-B10C-18733EB0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Thresholding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04BC9F-DF6F-4BB9-9CD0-D3057E1F8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Nelder</a:t>
            </a:r>
            <a:r>
              <a:rPr lang="en-US" altLang="zh-TW" dirty="0"/>
              <a:t>-Mead</a:t>
            </a:r>
          </a:p>
          <a:p>
            <a:pPr marL="0" indent="0">
              <a:buNone/>
            </a:pPr>
            <a:r>
              <a:rPr lang="zh-TW" altLang="en-US" dirty="0"/>
              <a:t>在驗證集上尋找完美的切分點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（例如：大於 </a:t>
            </a:r>
            <a:r>
              <a:rPr lang="en-US" altLang="zh-TW" dirty="0"/>
              <a:t>2.51 </a:t>
            </a:r>
            <a:r>
              <a:rPr lang="zh-TW" altLang="en-US" dirty="0"/>
              <a:t>算 </a:t>
            </a:r>
            <a:r>
              <a:rPr lang="en-US" altLang="zh-TW" dirty="0"/>
              <a:t>3 </a:t>
            </a:r>
            <a:r>
              <a:rPr lang="zh-TW" altLang="en-US" dirty="0"/>
              <a:t>分，大於 </a:t>
            </a:r>
            <a:r>
              <a:rPr lang="en-US" altLang="zh-TW" dirty="0"/>
              <a:t>3.48 </a:t>
            </a:r>
            <a:r>
              <a:rPr lang="zh-TW" altLang="en-US" dirty="0"/>
              <a:t>算 </a:t>
            </a:r>
            <a:r>
              <a:rPr lang="en-US" altLang="zh-TW" dirty="0"/>
              <a:t>4 </a:t>
            </a:r>
            <a:r>
              <a:rPr lang="zh-TW" altLang="en-US" dirty="0"/>
              <a:t>分）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為了防止閾值在驗證集上 </a:t>
            </a:r>
            <a:r>
              <a:rPr lang="en-US" altLang="zh-TW" dirty="0"/>
              <a:t>overfitting</a:t>
            </a:r>
            <a:r>
              <a:rPr lang="zh-TW" altLang="en-US" dirty="0"/>
              <a:t>，</a:t>
            </a:r>
            <a:r>
              <a:rPr lang="en-US" altLang="zh-TW" dirty="0"/>
              <a:t>NO1 </a:t>
            </a:r>
            <a:r>
              <a:rPr lang="zh-TW" altLang="en-US" dirty="0"/>
              <a:t>使用了 </a:t>
            </a:r>
            <a:r>
              <a:rPr lang="en-US" altLang="zh-TW" dirty="0"/>
              <a:t>3 </a:t>
            </a:r>
            <a:r>
              <a:rPr lang="zh-TW" altLang="en-US" dirty="0"/>
              <a:t>個不同的隨機種子（</a:t>
            </a:r>
            <a:r>
              <a:rPr lang="en-US" altLang="zh-TW" dirty="0"/>
              <a:t>3-Seed Average</a:t>
            </a:r>
            <a:r>
              <a:rPr lang="zh-TW" altLang="en-US" dirty="0"/>
              <a:t>）來平均所有模型的閾值 </a:t>
            </a:r>
            <a:r>
              <a:rPr lang="en-US" altLang="zh-TW" dirty="0"/>
              <a:t>(</a:t>
            </a:r>
            <a:r>
              <a:rPr lang="zh-TW" altLang="en-US" dirty="0"/>
              <a:t>沒實作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F5783-24B8-49E2-9626-0D72A384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044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AB0BB7-F5E7-4FE9-B14A-BA3A5FE0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6624"/>
          </a:xfrm>
        </p:spPr>
        <p:txBody>
          <a:bodyPr/>
          <a:lstStyle/>
          <a:p>
            <a:pPr algn="ctr"/>
            <a:r>
              <a:rPr lang="en-US" altLang="zh-TW" dirty="0"/>
              <a:t>Model + Method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F6B1F1-5424-4F1B-B927-DDC42E8A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5C6277-E509-4C5F-8F9F-5DFCA8D11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2826" y="1876097"/>
            <a:ext cx="11606348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TW" sz="2400" dirty="0">
                <a:latin typeface="+mn-ea"/>
              </a:rPr>
              <a:t>Core  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：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DebertaV3Classifier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Preset：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deberta_v3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_base</a:t>
            </a:r>
            <a:endParaRPr kumimoji="0" lang="zh-TW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Sequence Length：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512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Loss Function：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MeanSquaredError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Optimizer：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AdamW</a:t>
            </a: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LR</a:t>
            </a:r>
            <a:r>
              <a:rPr lang="en-US" altLang="zh-TW" sz="2400" dirty="0">
                <a:latin typeface="+mn-ea"/>
              </a:rPr>
              <a:t>			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5e-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Weight Decay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=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0.01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Batch size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32</a:t>
            </a: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Epochs </a:t>
            </a:r>
            <a:r>
              <a:rPr kumimoji="0" lang="en-US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		</a:t>
            </a:r>
            <a:r>
              <a:rPr kumimoji="0" lang="zh-TW" altLang="zh-TW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 3</a:t>
            </a:r>
            <a:endParaRPr kumimoji="0" lang="en-US" altLang="zh-TW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TW" sz="2400" dirty="0">
              <a:latin typeface="+mn-ea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TW" sz="2400" dirty="0">
                <a:latin typeface="+mn-ea"/>
              </a:rPr>
              <a:t>Stratified 5-Fold / </a:t>
            </a:r>
            <a:r>
              <a:rPr lang="en-US" altLang="zh-TW" sz="2400" dirty="0" err="1">
                <a:latin typeface="+mn-ea"/>
              </a:rPr>
              <a:t>Nelder</a:t>
            </a:r>
            <a:r>
              <a:rPr lang="en-US" altLang="zh-TW" sz="2400" dirty="0">
                <a:latin typeface="+mn-ea"/>
              </a:rPr>
              <a:t>-Mead  / PL</a:t>
            </a:r>
          </a:p>
        </p:txBody>
      </p:sp>
    </p:spTree>
    <p:extLst>
      <p:ext uri="{BB962C8B-B14F-4D97-AF65-F5344CB8AC3E}">
        <p14:creationId xmlns:p14="http://schemas.microsoft.com/office/powerpoint/2010/main" val="2923355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653303-74C2-4781-9B73-68376205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B5F510-D20D-446D-BD37-D26BDA85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110992C-1668-43DD-84F6-1753F6F5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04" y="1843088"/>
            <a:ext cx="10108989" cy="22270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CD5255D-2CC1-4014-9CFB-C1D4661ED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4728792"/>
            <a:ext cx="11599333" cy="117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23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C963CCC-B9A8-4054-A16A-432AA9C11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1858"/>
            <a:ext cx="10515600" cy="985876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TW" sz="4000" dirty="0" err="1"/>
              <a:t>Model_centric</a:t>
            </a:r>
            <a:r>
              <a:rPr lang="en-US" altLang="zh-TW" sz="4000" dirty="0"/>
              <a:t> </a:t>
            </a:r>
            <a:r>
              <a:rPr lang="zh-TW" altLang="en-US" sz="4000" dirty="0"/>
              <a:t> </a:t>
            </a:r>
            <a:r>
              <a:rPr lang="en-US" altLang="zh-TW" sz="4000" dirty="0"/>
              <a:t>➜ </a:t>
            </a:r>
            <a:r>
              <a:rPr lang="zh-TW" altLang="en-US" sz="4000" dirty="0"/>
              <a:t> </a:t>
            </a:r>
            <a:r>
              <a:rPr lang="en-US" altLang="zh-TW" sz="4000" dirty="0" err="1">
                <a:solidFill>
                  <a:srgbClr val="FF0000"/>
                </a:solidFill>
              </a:rPr>
              <a:t>data</a:t>
            </a:r>
            <a:r>
              <a:rPr lang="en-US" altLang="zh-TW" sz="4000" dirty="0" err="1"/>
              <a:t>_centric</a:t>
            </a:r>
            <a:endParaRPr lang="en-US" altLang="zh-TW" sz="4000" dirty="0"/>
          </a:p>
          <a:p>
            <a:pPr marL="0" indent="0" algn="ctr">
              <a:buNone/>
            </a:pPr>
            <a:endParaRPr lang="en-US" altLang="zh-TW" sz="4000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5FE6F5-9C85-453C-98AB-06B5DCEE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38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C15F047-0DBB-4DD9-BFF5-72419022B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1" y="1406977"/>
            <a:ext cx="10430933" cy="462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17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F954-6685-4B99-BAE8-A2768FD5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995752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The End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668BB0B-817F-4F58-AD34-13AAB24E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3C38-C58C-4410-BF8D-A9C9BF855535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039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3036</Words>
  <Application>Microsoft Office PowerPoint</Application>
  <PresentationFormat>寬螢幕</PresentationFormat>
  <Paragraphs>277</Paragraphs>
  <Slides>39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6" baseType="lpstr">
      <vt:lpstr>Google Sans Flex</vt:lpstr>
      <vt:lpstr>Google Sans Text</vt:lpstr>
      <vt:lpstr>新細明體</vt:lpstr>
      <vt:lpstr>Arial</vt:lpstr>
      <vt:lpstr>Calibri</vt:lpstr>
      <vt:lpstr>Courier New</vt:lpstr>
      <vt:lpstr>Office 佈景主題</vt:lpstr>
      <vt:lpstr>Learning Agency Lab  Automated Essay Scoring 2.0 (AES)</vt:lpstr>
      <vt:lpstr>Task</vt:lpstr>
      <vt:lpstr>Task</vt:lpstr>
      <vt:lpstr>Task</vt:lpstr>
      <vt:lpstr>✓Ordinal regression</vt:lpstr>
      <vt:lpstr>✓Ordinal regression</vt:lpstr>
      <vt:lpstr>Process Labels for Ordinal Regression</vt:lpstr>
      <vt:lpstr>Task</vt:lpstr>
      <vt:lpstr>✓  Regression</vt:lpstr>
      <vt:lpstr>✓  Regression</vt:lpstr>
      <vt:lpstr>Reference code </vt:lpstr>
      <vt:lpstr>Difficulty</vt:lpstr>
      <vt:lpstr>Difficulty</vt:lpstr>
      <vt:lpstr>Difficulty</vt:lpstr>
      <vt:lpstr>Difficulty</vt:lpstr>
      <vt:lpstr>model</vt:lpstr>
      <vt:lpstr>First submission</vt:lpstr>
      <vt:lpstr>參考了Kaggle AES 2.0 討論區，加上我自己的理解 </vt:lpstr>
      <vt:lpstr>方法</vt:lpstr>
      <vt:lpstr>方法</vt:lpstr>
      <vt:lpstr>方法</vt:lpstr>
      <vt:lpstr>PowerPoint 簡報</vt:lpstr>
      <vt:lpstr>PowerPoint 簡報</vt:lpstr>
      <vt:lpstr>使用了討論區的方法，結果反而沒有比較好?</vt:lpstr>
      <vt:lpstr>分類方式不好</vt:lpstr>
      <vt:lpstr>TfidfVectorizer 搭配 Cosine Similarity </vt:lpstr>
      <vt:lpstr>評分標準改變了</vt:lpstr>
      <vt:lpstr>評分標準改變了</vt:lpstr>
      <vt:lpstr>評分標準改變了</vt:lpstr>
      <vt:lpstr>PowerPoint 簡報</vt:lpstr>
      <vt:lpstr>PowerPoint 簡報</vt:lpstr>
      <vt:lpstr>PowerPoint 簡報</vt:lpstr>
      <vt:lpstr>PowerPoint 簡報</vt:lpstr>
      <vt:lpstr>Pseudo-Labeling</vt:lpstr>
      <vt:lpstr>Thresholding</vt:lpstr>
      <vt:lpstr>Model + Method</vt:lpstr>
      <vt:lpstr>Result</vt:lpstr>
      <vt:lpstr>PowerPoint 簡報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Agency Lab  Automated Essay Scoring 2.0 (AES)</dc:title>
  <dc:creator>EMI中心</dc:creator>
  <cp:lastModifiedBy>EMI中心</cp:lastModifiedBy>
  <cp:revision>63</cp:revision>
  <dcterms:created xsi:type="dcterms:W3CDTF">2026-05-05T00:41:09Z</dcterms:created>
  <dcterms:modified xsi:type="dcterms:W3CDTF">2026-06-08T04:56:16Z</dcterms:modified>
</cp:coreProperties>
</file>